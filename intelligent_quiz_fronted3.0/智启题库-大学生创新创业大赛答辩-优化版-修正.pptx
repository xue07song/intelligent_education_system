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74" r:id="rId4"/>
    <p:sldId id="290" r:id="rId5"/>
    <p:sldId id="278" r:id="rId6"/>
    <p:sldId id="279" r:id="rId7"/>
    <p:sldId id="277" r:id="rId8"/>
    <p:sldId id="259" r:id="rId9"/>
    <p:sldId id="260" r:id="rId10"/>
    <p:sldId id="286" r:id="rId11"/>
    <p:sldId id="261" r:id="rId12"/>
    <p:sldId id="262" r:id="rId13"/>
    <p:sldId id="263" r:id="rId14"/>
    <p:sldId id="282" r:id="rId15"/>
    <p:sldId id="264" r:id="rId16"/>
    <p:sldId id="265" r:id="rId17"/>
    <p:sldId id="288" r:id="rId18"/>
    <p:sldId id="266" r:id="rId19"/>
    <p:sldId id="289" r:id="rId20"/>
    <p:sldId id="267" r:id="rId21"/>
    <p:sldId id="285" r:id="rId22"/>
    <p:sldId id="276" r:id="rId23"/>
    <p:sldId id="269" r:id="rId24"/>
    <p:sldId id="270" r:id="rId25"/>
    <p:sldId id="271" r:id="rId26"/>
    <p:sldId id="272" r:id="rId2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9" d="100"/>
          <a:sy n="139" d="100"/>
        </p:scale>
        <p:origin x="72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0663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1925C-CDA0-660B-7169-451AA79C1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2A16A5-1384-96A8-89A1-4D99729953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CED6C-B418-1DAC-C51F-29CD8940FE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99CB04-4D08-B843-CD92-40A86CA182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224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13094-FFE3-6D08-0680-F94C72B52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CD7141-3DBB-2732-96DE-FD08D56F0F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76D95B-32A5-9133-5557-2651B3D817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7211B-1876-0D2D-8C0D-491B711B3DB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3260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2A33-9B7E-84F3-1505-7A3E74F5E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91E782-E963-CCC7-412A-78B1997659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060079-03A7-3B25-719C-847EB3BFB7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DE23E-1E68-1046-3687-293AA3CE8C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16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D1D363-06B4-24D8-598E-F7210ADB9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B61D55-707E-2EB4-B1B3-7C101C28D8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5A802A-F03D-D9E1-7B60-902136DD79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F7937-4E4F-7C87-E285-EF0DBF84FC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7513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3.xml.rels><?xml version="1.0" encoding="UTF-8"?>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4.xml.rels><?xml version="1.0" encoding="UTF-8"?>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5.xml.rels><?xml version="1.0" encoding="UTF-8"?>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6.xml.rels><?xml version="1.0" encoding="UTF-8"?>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2286000"/>
          </a:xfrm>
          <a:prstGeom prst="ellipse">
            <a:avLst/>
          </a:prstGeom>
          <a:solidFill>
            <a:srgbClr val="243B7A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7132320" y="3108960"/>
            <a:ext cx="1920240" cy="1920240"/>
          </a:xfrm>
          <a:prstGeom prst="ellipse">
            <a:avLst/>
          </a:prstGeom>
          <a:solidFill>
            <a:srgbClr val="243B7A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7498080" y="182880"/>
            <a:ext cx="1371600" cy="1371600"/>
          </a:xfrm>
          <a:prstGeom prst="ellipse">
            <a:avLst/>
          </a:prstGeom>
          <a:solidFill>
            <a:srgbClr val="2D6CDF">
              <a:alpha val="60000"/>
            </a:srgbClr>
          </a:solidFill>
          <a:ln>
            <a:noFill/>
          </a:ln>
        </p:spPr>
      </p:sp>
      <p:sp>
        <p:nvSpPr>
          <p:cNvPr id="5" name="Shape 3"/>
          <p:cNvSpPr/>
          <p:nvPr/>
        </p:nvSpPr>
        <p:spPr>
          <a:xfrm>
            <a:off x="914400" y="1371600"/>
            <a:ext cx="548640" cy="54864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4400" b="1" kern="0" spc="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智启题库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7D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面向高校真实教学场景的 AI 驱动智能题库与个性化学习平台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063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让每一次出题、作答与复盘，都沉淀为可行动的教学依据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749040"/>
            <a:ext cx="7315200" cy="36576"/>
          </a:xfrm>
          <a:prstGeom prst="rect">
            <a:avLst/>
          </a:prstGeom>
          <a:solidFill>
            <a:srgbClr val="00B8A3">
              <a:alpha val="50000"/>
            </a:srgbClr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中国国际大学生创新大赛</a:t>
            </a:r>
            <a:r>
              <a:rPr lang="en-US" sz="1300" dirty="0">
                <a:solidFill>
                  <a:srgbClr val="7D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 ·  项目答辩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25196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 err="1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团队名称</a:t>
            </a: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：</a:t>
            </a:r>
            <a:r>
              <a:rPr lang="zh-CN" alt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题策云学智能题库开发</a:t>
            </a:r>
            <a:r>
              <a:rPr lang="en-US" sz="1100" dirty="0" err="1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</a:t>
            </a:r>
            <a:r>
              <a:rPr 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</a:t>
            </a:r>
            <a:r>
              <a:rPr lang="zh-CN" altLang="en-US" sz="11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  指导老师：徐维祥      负责人：高雪松</a:t>
            </a:r>
            <a:endParaRPr lang="en-US" sz="1100" dirty="0"/>
          </a:p>
        </p:txBody>
      </p:sp>
      <p:sp>
        <p:nvSpPr>
          <p:cNvPr id="17" name="Shape 0">
            <a:extLst>
              <a:ext uri="{FF2B5EF4-FFF2-40B4-BE49-F238E27FC236}">
                <a16:creationId xmlns:a16="http://schemas.microsoft.com/office/drawing/2014/main" id="{556ECBB1-50C4-EADB-9400-EBB5239C4596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61288"/>
            <a:ext cx="384048" cy="38404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457200" y="11612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72" dirty="0"/>
          </a:p>
        </p:txBody>
      </p:sp>
      <p:sp>
        <p:nvSpPr>
          <p:cNvPr id="8" name="Text 6"/>
          <p:cNvSpPr/>
          <p:nvPr/>
        </p:nvSpPr>
        <p:spPr>
          <a:xfrm>
            <a:off x="1005840" y="11430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zh-CN" alt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基于市场调研的</a:t>
            </a:r>
            <a:r>
              <a:rPr lang="en-US" sz="1400" b="1" dirty="0" err="1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项目背景与痛点分析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4173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高校题库的真实困境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005840" y="1673352"/>
            <a:ext cx="7680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457200" y="1709928"/>
            <a:ext cx="384048" cy="38404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457200" y="17099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72" dirty="0"/>
          </a:p>
        </p:txBody>
      </p:sp>
      <p:sp>
        <p:nvSpPr>
          <p:cNvPr id="13" name="Text 11"/>
          <p:cNvSpPr/>
          <p:nvPr/>
        </p:nvSpPr>
        <p:spPr>
          <a:xfrm>
            <a:off x="1005840" y="169164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r>
              <a:rPr lang="zh-CN" alt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及项目概述</a:t>
            </a:r>
            <a:r>
              <a:rPr lang="en-US" sz="1400" b="1" dirty="0" err="1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三端协同的教学闭环平台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05840" y="2221992"/>
            <a:ext cx="7680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457200" y="2258568"/>
            <a:ext cx="384048" cy="38404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457200" y="22585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72" dirty="0"/>
          </a:p>
        </p:txBody>
      </p:sp>
      <p:sp>
        <p:nvSpPr>
          <p:cNvPr id="18" name="Text 16"/>
          <p:cNvSpPr/>
          <p:nvPr/>
        </p:nvSpPr>
        <p:spPr>
          <a:xfrm>
            <a:off x="1005840" y="2235707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核心技术创新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05840" y="2514599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网络流组卷 · 难度自适应 · AI评阅 · 学习分析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60120" y="2699366"/>
            <a:ext cx="7680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457200" y="2807208"/>
            <a:ext cx="384048" cy="38404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457200" y="2807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72" dirty="0"/>
          </a:p>
        </p:txBody>
      </p:sp>
      <p:sp>
        <p:nvSpPr>
          <p:cNvPr id="23" name="Text 21"/>
          <p:cNvSpPr/>
          <p:nvPr/>
        </p:nvSpPr>
        <p:spPr>
          <a:xfrm>
            <a:off x="1005840" y="2717654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2984424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前后端分离 · 双大模型 · MVC分层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0120" y="3279214"/>
            <a:ext cx="7680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57200" y="3355848"/>
            <a:ext cx="384048" cy="38404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457200" y="33558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672" dirty="0"/>
          </a:p>
        </p:txBody>
      </p:sp>
      <p:sp>
        <p:nvSpPr>
          <p:cNvPr id="28" name="Text 26"/>
          <p:cNvSpPr/>
          <p:nvPr/>
        </p:nvSpPr>
        <p:spPr>
          <a:xfrm>
            <a:off x="1005840" y="3272242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功能实证展示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05840" y="361188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 · 教师端 · 管理员端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005840" y="3867912"/>
            <a:ext cx="7680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457200" y="3904488"/>
            <a:ext cx="384048" cy="38404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457200" y="390448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672" dirty="0"/>
          </a:p>
        </p:txBody>
      </p:sp>
      <p:sp>
        <p:nvSpPr>
          <p:cNvPr id="33" name="Text 31"/>
          <p:cNvSpPr/>
          <p:nvPr/>
        </p:nvSpPr>
        <p:spPr>
          <a:xfrm>
            <a:off x="1005840" y="38862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竞争优势与应用推广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16052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差异化壁垒与落地路线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05840" y="4416552"/>
            <a:ext cx="76809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57200" y="4453128"/>
            <a:ext cx="384048" cy="38404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457200" y="44531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672" dirty="0"/>
          </a:p>
        </p:txBody>
      </p:sp>
      <p:sp>
        <p:nvSpPr>
          <p:cNvPr id="38" name="Text 36"/>
          <p:cNvSpPr/>
          <p:nvPr/>
        </p:nvSpPr>
        <p:spPr>
          <a:xfrm>
            <a:off x="1005840" y="443484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b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团队介绍与未来规划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5840" y="4709160"/>
            <a:ext cx="5943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分工协作与演进方向</a:t>
            </a:r>
            <a:endParaRPr lang="en-US" sz="10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59436" y="-1143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35280" y="160127"/>
            <a:ext cx="8092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A2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</a:t>
            </a:r>
            <a:r>
              <a:rPr sz="2400" b="1" dirty="0" err="1">
                <a:solidFill>
                  <a:srgbClr val="1A2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市场调研</a:t>
            </a:r>
            <a:r>
              <a:rPr lang="zh-CN" altLang="en-US" sz="2400" b="1" dirty="0">
                <a:solidFill>
                  <a:srgbClr val="1A2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调研的项目背景与痛点分析</a:t>
            </a:r>
            <a:endParaRPr sz="2400" b="1" dirty="0">
              <a:solidFill>
                <a:srgbClr val="1A2B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0924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dirty="0">
                <a:solidFill>
                  <a:srgbClr val="00B8A3"/>
                </a:solidFill>
                <a:latin typeface="Microsoft YaHei"/>
              </a:rPr>
              <a:t>0</a:t>
            </a:r>
            <a:r>
              <a:rPr lang="en-US" sz="1100" b="1" dirty="0">
                <a:solidFill>
                  <a:srgbClr val="00B8A3"/>
                </a:solidFill>
                <a:latin typeface="Microsoft YaHei"/>
              </a:rPr>
              <a:t>1</a:t>
            </a:r>
            <a:r>
              <a:rPr sz="1100" b="1" dirty="0">
                <a:solidFill>
                  <a:srgbClr val="00B8A3"/>
                </a:solidFill>
                <a:latin typeface="Microsoft YaHei"/>
              </a:rPr>
              <a:t xml:space="preserve">  </a:t>
            </a:r>
            <a:r>
              <a:rPr lang="en-US" sz="1100" b="1" dirty="0">
                <a:solidFill>
                  <a:srgbClr val="00B8A3"/>
                </a:solidFill>
                <a:latin typeface="Microsoft YaHei"/>
              </a:rPr>
              <a:t>RESEARCH</a:t>
            </a:r>
            <a:endParaRPr sz="1100" b="1" dirty="0">
              <a:solidFill>
                <a:srgbClr val="00B8A3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CA3AF"/>
                </a:solidFill>
                <a:latin typeface="Microsoft YaHe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2B5E"/>
                </a:solidFill>
                <a:latin typeface="Microsoft YaHei"/>
              </a:rPr>
              <a:t>核心发现：高校题库市场存在显著供需缺口，教学闭环产品稀缺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2621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" cy="2377440"/>
          </a:xfrm>
          <a:prstGeom prst="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2301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5E"/>
                </a:solidFill>
                <a:latin typeface="Microsoft YaHei"/>
              </a:rPr>
              <a:t>高校题库使用现状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2301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78% 教师认为组卷耗时是最大痛点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301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65% 学生认为练习缺乏针对性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2301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82% 高校缺乏统一学情分析平台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00200"/>
            <a:ext cx="2621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CA3AF"/>
                </a:solidFill>
                <a:latin typeface="Microsoft YaHei"/>
              </a:rPr>
              <a:t>来源：项目团队实地调研（详情见项目书）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07080" y="1600200"/>
            <a:ext cx="2621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07080" y="1600200"/>
            <a:ext cx="54864" cy="237744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5680" y="1783080"/>
            <a:ext cx="2301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5E"/>
                </a:solidFill>
                <a:latin typeface="Microsoft YaHei"/>
              </a:rPr>
              <a:t>市场规模与增长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5680" y="2240280"/>
            <a:ext cx="2301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6B7280"/>
                </a:solidFill>
                <a:latin typeface="Microsoft YaHei"/>
              </a:rPr>
              <a:t>•  2024年中国教育信息化市场 5,</a:t>
            </a:r>
            <a:r>
              <a:rPr lang="en-US" sz="1100" b="0" dirty="0">
                <a:solidFill>
                  <a:srgbClr val="6B7280"/>
                </a:solidFill>
                <a:latin typeface="Microsoft YaHei"/>
              </a:rPr>
              <a:t>8</a:t>
            </a:r>
            <a:r>
              <a:rPr sz="1100" b="0" dirty="0">
                <a:solidFill>
                  <a:srgbClr val="6B7280"/>
                </a:solidFill>
                <a:latin typeface="Microsoft YaHei"/>
              </a:rPr>
              <a:t xml:space="preserve">00+ </a:t>
            </a:r>
            <a:r>
              <a:rPr sz="1100" b="0" dirty="0" err="1">
                <a:solidFill>
                  <a:srgbClr val="6B7280"/>
                </a:solidFill>
                <a:latin typeface="Microsoft YaHei"/>
              </a:rPr>
              <a:t>亿元</a:t>
            </a:r>
            <a:endParaRPr sz="1100" b="0" dirty="0">
              <a:solidFill>
                <a:srgbClr val="6B7280"/>
              </a:solidFill>
              <a:latin typeface="Microsoft YaHe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35680" y="2560320"/>
            <a:ext cx="2301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在线题库与练习平台年增速 15%+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35680" y="2880360"/>
            <a:ext cx="2301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高校数字化教学渗透率持续提升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07080" y="4100200"/>
            <a:ext cx="262128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CA3AF"/>
                </a:solidFill>
                <a:latin typeface="Microsoft YaHei"/>
              </a:rPr>
              <a:t>来源：公开行业报告（详情见项目书）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56960" y="1600200"/>
            <a:ext cx="2621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56960" y="1600200"/>
            <a:ext cx="54864" cy="23774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85560" y="1783080"/>
            <a:ext cx="230124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5E"/>
                </a:solidFill>
                <a:latin typeface="Microsoft YaHei"/>
              </a:rPr>
              <a:t>需求验证数据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5560" y="2240280"/>
            <a:ext cx="2301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6B7280"/>
                </a:solidFill>
                <a:latin typeface="Microsoft YaHei"/>
              </a:rPr>
              <a:t xml:space="preserve">•  </a:t>
            </a:r>
            <a:r>
              <a:rPr sz="1100" b="0" dirty="0" err="1">
                <a:solidFill>
                  <a:srgbClr val="6B7280"/>
                </a:solidFill>
                <a:latin typeface="Microsoft YaHei"/>
              </a:rPr>
              <a:t>调研覆盖</a:t>
            </a:r>
            <a:r>
              <a:rPr sz="1100" b="0" dirty="0">
                <a:solidFill>
                  <a:srgbClr val="6B7280"/>
                </a:solidFill>
                <a:latin typeface="Microsoft YaHei"/>
              </a:rPr>
              <a:t xml:space="preserve"> 3+ 高校、</a:t>
            </a:r>
            <a:r>
              <a:rPr lang="en-US" sz="1100" b="0" dirty="0">
                <a:solidFill>
                  <a:srgbClr val="6B7280"/>
                </a:solidFill>
                <a:latin typeface="Microsoft YaHei"/>
              </a:rPr>
              <a:t>80</a:t>
            </a:r>
            <a:r>
              <a:rPr sz="1100" b="0" dirty="0">
                <a:solidFill>
                  <a:srgbClr val="6B7280"/>
                </a:solidFill>
                <a:latin typeface="Microsoft YaHei"/>
              </a:rPr>
              <a:t>+ 教师、</a:t>
            </a:r>
            <a:r>
              <a:rPr lang="en-US" sz="1100" dirty="0">
                <a:solidFill>
                  <a:srgbClr val="6B7280"/>
                </a:solidFill>
                <a:latin typeface="Microsoft YaHei"/>
              </a:rPr>
              <a:t>350</a:t>
            </a:r>
            <a:r>
              <a:rPr sz="1100" b="0" dirty="0">
                <a:solidFill>
                  <a:srgbClr val="6B7280"/>
                </a:solidFill>
                <a:latin typeface="Microsoft YaHei"/>
              </a:rPr>
              <a:t xml:space="preserve">+ </a:t>
            </a:r>
            <a:r>
              <a:rPr sz="1100" b="0" dirty="0" err="1">
                <a:solidFill>
                  <a:srgbClr val="6B7280"/>
                </a:solidFill>
                <a:latin typeface="Microsoft YaHei"/>
              </a:rPr>
              <a:t>学生</a:t>
            </a:r>
            <a:endParaRPr sz="1100" b="0" dirty="0">
              <a:solidFill>
                <a:srgbClr val="6B7280"/>
              </a:solidFill>
              <a:latin typeface="Microsoft YaHe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385560" y="2560320"/>
            <a:ext cx="23012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91% 教师期望 AI 辅助组卷与评阅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5560" y="2880360"/>
            <a:ext cx="23012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87% 学生期望个性化练习推荐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56960" y="4100200"/>
            <a:ext cx="262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dirty="0" err="1">
                <a:solidFill>
                  <a:srgbClr val="9CA3AF"/>
                </a:solidFill>
                <a:latin typeface="Microsoft YaHei"/>
              </a:rPr>
              <a:t>来源：项目团队问卷调研（详情见项目书</a:t>
            </a:r>
            <a:r>
              <a:rPr sz="900" b="0" dirty="0">
                <a:solidFill>
                  <a:srgbClr val="9CA3AF"/>
                </a:solidFill>
                <a:latin typeface="Microsoft YaHei"/>
              </a:rPr>
              <a:t>）</a:t>
            </a:r>
          </a:p>
        </p:txBody>
      </p:sp>
      <p:sp>
        <p:nvSpPr>
          <p:cNvPr id="2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A2B5E"/>
                </a:solidFill>
                <a:latin typeface="Microsoft YaHei"/>
              </a:rPr>
              <a:t>社会与商业价值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13232"/>
            <a:ext cx="80924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100" b="1" dirty="0">
                <a:solidFill>
                  <a:srgbClr val="00B8A3"/>
                </a:solidFill>
                <a:latin typeface="Microsoft YaHei"/>
              </a:rPr>
              <a:t>01  RESEARCH</a:t>
            </a:r>
          </a:p>
          <a:p>
            <a:endParaRPr sz="1100" b="1" dirty="0">
              <a:solidFill>
                <a:srgbClr val="00B8A3"/>
              </a:solidFill>
              <a:latin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CA3AF"/>
                </a:solidFill>
                <a:latin typeface="Microsoft YaHe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8092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2B5E"/>
                </a:solidFill>
                <a:latin typeface="Microsoft YaHei"/>
              </a:rPr>
              <a:t>让题库真正进入教学现场，释放教师精力，赋能学生成长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00200"/>
            <a:ext cx="39776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600200"/>
            <a:ext cx="54864" cy="1600200"/>
          </a:xfrm>
          <a:prstGeom prst="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5E"/>
                </a:solidFill>
                <a:latin typeface="Microsoft YaHei"/>
              </a:rPr>
              <a:t>教育公平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0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优质题库资源跨校共享，缩小差距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dirty="0">
                <a:solidFill>
                  <a:srgbClr val="6B7280"/>
                </a:solidFill>
                <a:latin typeface="Microsoft YaHei"/>
              </a:rPr>
              <a:t xml:space="preserve">•  </a:t>
            </a:r>
            <a:r>
              <a:rPr sz="1100" b="0" dirty="0" err="1">
                <a:solidFill>
                  <a:srgbClr val="6B7280"/>
                </a:solidFill>
                <a:latin typeface="Microsoft YaHei"/>
              </a:rPr>
              <a:t>统一标准降低课程建设门槛</a:t>
            </a:r>
            <a:endParaRPr sz="1100" b="0" dirty="0">
              <a:solidFill>
                <a:srgbClr val="6B7280"/>
              </a:solidFill>
              <a:latin typeface="Microsoft YaHe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支持多科目、多难度层级覆盖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709160" y="1600200"/>
            <a:ext cx="39776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709160" y="1600200"/>
            <a:ext cx="54864" cy="16002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937760" y="1783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5E"/>
                </a:solidFill>
                <a:latin typeface="Microsoft YaHei"/>
              </a:rPr>
              <a:t>教师减负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22402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组卷效率提升 80%+（多约束自动化）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主观题评阅效率提升 60%+（AI辅助）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8803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学情分析自动化，告别手工统计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429000"/>
            <a:ext cx="39776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3429000"/>
            <a:ext cx="54864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580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5E"/>
                </a:solidFill>
                <a:latin typeface="Microsoft YaHei"/>
              </a:rPr>
              <a:t>学生受益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个性化学习路径，因材施教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难度自适应，稳定在最近发展区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70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错题归集 + AI答疑，精准巩固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3429000"/>
            <a:ext cx="397764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709160" y="3429000"/>
            <a:ext cx="54864" cy="1600200"/>
          </a:xfrm>
          <a:prstGeom prst="rect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937760" y="3611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A2B5E"/>
                </a:solidFill>
                <a:latin typeface="Microsoft YaHei"/>
              </a:rPr>
              <a:t>数据价值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0690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教学数据持续沉淀，形成数据飞轮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43891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支撑教学改革与课程优化决策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7091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•  校级教学质量洞察报告输出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4450000"/>
            <a:ext cx="8092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9CA3AF"/>
                </a:solidFill>
                <a:latin typeface="Microsoft YaHei"/>
              </a:rPr>
              <a:t>来源：项目团队试点数据（详情见项目书）</a:t>
            </a:r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F19857F4-F5CE-7DE4-C1DA-5F0F18C221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54" y="1093957"/>
            <a:ext cx="5376503" cy="3684872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4649963-C6E6-2B11-98B1-37D48A7E5F4A}"/>
              </a:ext>
            </a:extLst>
          </p:cNvPr>
          <p:cNvSpPr/>
          <p:nvPr/>
        </p:nvSpPr>
        <p:spPr>
          <a:xfrm>
            <a:off x="-59436" y="-1143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C696A20-08FD-2E72-0009-AB4D7D351142}"/>
              </a:ext>
            </a:extLst>
          </p:cNvPr>
          <p:cNvSpPr txBox="1"/>
          <p:nvPr/>
        </p:nvSpPr>
        <p:spPr>
          <a:xfrm>
            <a:off x="439511" y="196219"/>
            <a:ext cx="46019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A2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目标用户调研的数据展示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609D47-A947-34A9-A169-99E1A051078E}"/>
              </a:ext>
            </a:extLst>
          </p:cNvPr>
          <p:cNvSpPr txBox="1"/>
          <p:nvPr/>
        </p:nvSpPr>
        <p:spPr>
          <a:xfrm>
            <a:off x="778328" y="706594"/>
            <a:ext cx="20864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00B8A3"/>
                </a:solidFill>
                <a:latin typeface="Microsoft YaHei"/>
              </a:rPr>
              <a:t>01  RESEARCH</a:t>
            </a:r>
          </a:p>
          <a:p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34AB9E4-D025-19E1-D250-0F7C30695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9209" y="-11430"/>
            <a:ext cx="3066407" cy="475004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D4A242BA-8D32-CBA7-3A6E-F8679107148D}"/>
              </a:ext>
            </a:extLst>
          </p:cNvPr>
          <p:cNvSpPr txBox="1"/>
          <p:nvPr/>
        </p:nvSpPr>
        <p:spPr>
          <a:xfrm>
            <a:off x="767443" y="4778829"/>
            <a:ext cx="44141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9CA3AF"/>
                </a:solidFill>
                <a:latin typeface="Microsoft YaHei"/>
              </a:rPr>
              <a:t>来源：项目团队问卷调研（详情见项目书）</a:t>
            </a:r>
          </a:p>
          <a:p>
            <a:endParaRPr lang="zh-CN" altLang="en-US" dirty="0"/>
          </a:p>
        </p:txBody>
      </p:sp>
      <p:sp>
        <p:nvSpPr>
          <p:cNvPr id="18" name="Shape 0">
            <a:extLst>
              <a:ext uri="{FF2B5EF4-FFF2-40B4-BE49-F238E27FC236}">
                <a16:creationId xmlns:a16="http://schemas.microsoft.com/office/drawing/2014/main" id="{B5CB521F-99E5-49EC-BE5D-EA6997A110EB}"/>
              </a:ext>
            </a:extLst>
          </p:cNvPr>
          <p:cNvSpPr/>
          <p:nvPr/>
        </p:nvSpPr>
        <p:spPr>
          <a:xfrm>
            <a:off x="5839919" y="0"/>
            <a:ext cx="45719" cy="4738614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  <p:extLst>
      <p:ext uri="{BB962C8B-B14F-4D97-AF65-F5344CB8AC3E}">
        <p14:creationId xmlns:p14="http://schemas.microsoft.com/office/powerpoint/2010/main" val="2429940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48B5A132-E6D6-5CC8-44FA-D7D33A77CD86}"/>
              </a:ext>
            </a:extLst>
          </p:cNvPr>
          <p:cNvSpPr/>
          <p:nvPr/>
        </p:nvSpPr>
        <p:spPr>
          <a:xfrm>
            <a:off x="-1" y="0"/>
            <a:ext cx="190501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0FC847-6E80-F3F8-2517-6DDCBE95D1B7}"/>
              </a:ext>
            </a:extLst>
          </p:cNvPr>
          <p:cNvSpPr txBox="1"/>
          <p:nvPr/>
        </p:nvSpPr>
        <p:spPr>
          <a:xfrm>
            <a:off x="397329" y="683470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00B8A3"/>
                </a:solidFill>
                <a:effectLst/>
                <a:uLnTx/>
                <a:uFillTx/>
                <a:latin typeface="Microsoft YaHei"/>
                <a:ea typeface="等线" panose="02010600030101010101" pitchFamily="2" charset="-122"/>
                <a:cs typeface="+mn-cs"/>
              </a:rPr>
              <a:t xml:space="preserve">02  </a:t>
            </a:r>
            <a:r>
              <a:rPr lang="en-US" altLang="zh-CN" sz="1800" b="1" dirty="0">
                <a:solidFill>
                  <a:srgbClr val="00B8A3"/>
                </a:solidFill>
                <a:latin typeface="Microsoft YaHei"/>
                <a:ea typeface="等线" panose="02010600030101010101" pitchFamily="2" charset="-122"/>
              </a:rPr>
              <a:t>SHOW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00B8A3"/>
              </a:solidFill>
              <a:effectLst/>
              <a:uLnTx/>
              <a:uFillTx/>
              <a:latin typeface="Microsoft YaHei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" name="Shape 0">
            <a:extLst>
              <a:ext uri="{FF2B5EF4-FFF2-40B4-BE49-F238E27FC236}">
                <a16:creationId xmlns:a16="http://schemas.microsoft.com/office/drawing/2014/main" id="{8EC48156-378C-95CE-48C1-47C1B9F5732F}"/>
              </a:ext>
            </a:extLst>
          </p:cNvPr>
          <p:cNvSpPr/>
          <p:nvPr/>
        </p:nvSpPr>
        <p:spPr>
          <a:xfrm>
            <a:off x="8147957" y="0"/>
            <a:ext cx="1132114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5E5529B-9F0A-0EE7-0B4F-014D289FCC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1" y="0"/>
            <a:ext cx="9133114" cy="51435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D523BB91-8E7B-E2A5-3592-73ABB58844CA}"/>
              </a:ext>
            </a:extLst>
          </p:cNvPr>
          <p:cNvSpPr txBox="1"/>
          <p:nvPr/>
        </p:nvSpPr>
        <p:spPr>
          <a:xfrm>
            <a:off x="190500" y="116346"/>
            <a:ext cx="3358243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1A2B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走进题策云学智能体库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2049F7-EA1F-35BA-A30F-EC2F6B95347B}"/>
              </a:ext>
            </a:extLst>
          </p:cNvPr>
          <p:cNvSpPr txBox="1"/>
          <p:nvPr/>
        </p:nvSpPr>
        <p:spPr>
          <a:xfrm>
            <a:off x="332013" y="892149"/>
            <a:ext cx="51747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B8A3"/>
                </a:solidFill>
                <a:latin typeface="Microsoft YaHei"/>
              </a:rPr>
              <a:t xml:space="preserve">02  </a:t>
            </a:r>
            <a:r>
              <a:rPr lang="en-US" altLang="zh-CN" b="1" dirty="0">
                <a:solidFill>
                  <a:srgbClr val="00B8A3"/>
                </a:solidFill>
                <a:latin typeface="Microsoft YaHei"/>
              </a:rPr>
              <a:t>show</a:t>
            </a:r>
            <a:endParaRPr lang="en-US" altLang="zh-CN" sz="1800" b="1" dirty="0">
              <a:solidFill>
                <a:srgbClr val="00B8A3"/>
              </a:solidFill>
              <a:latin typeface="Microsoft YaHei"/>
            </a:endParaRPr>
          </a:p>
        </p:txBody>
      </p:sp>
      <p:sp>
        <p:nvSpPr>
          <p:cNvPr id="2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  <p:extLst>
      <p:ext uri="{BB962C8B-B14F-4D97-AF65-F5344CB8AC3E}">
        <p14:creationId xmlns:p14="http://schemas.microsoft.com/office/powerpoint/2010/main" val="6722525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0">
            <a:extLst>
              <a:ext uri="{FF2B5EF4-FFF2-40B4-BE49-F238E27FC236}">
                <a16:creationId xmlns:a16="http://schemas.microsoft.com/office/drawing/2014/main" id="{3DEFC135-10D9-6DA7-0D79-51049808342B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1B8E88A8-E59F-E01C-8DE6-6EB302246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0"/>
            <a:ext cx="9070848" cy="514350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3AFCE79B-97C1-63AE-A5F9-6355CD650FB7}"/>
              </a:ext>
            </a:extLst>
          </p:cNvPr>
          <p:cNvSpPr txBox="1"/>
          <p:nvPr/>
        </p:nvSpPr>
        <p:spPr>
          <a:xfrm>
            <a:off x="146304" y="3510643"/>
            <a:ext cx="5129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b="1" dirty="0">
                <a:solidFill>
                  <a:srgbClr val="00B8A3"/>
                </a:solidFill>
                <a:latin typeface="Microsoft YaHei"/>
              </a:rPr>
              <a:t>02  show</a:t>
            </a:r>
          </a:p>
        </p:txBody>
      </p:sp>
      <p:sp>
        <p:nvSpPr>
          <p:cNvPr id="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  <p:extLst>
      <p:ext uri="{BB962C8B-B14F-4D97-AF65-F5344CB8AC3E}">
        <p14:creationId xmlns:p14="http://schemas.microsoft.com/office/powerpoint/2010/main" val="2157498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解决方案概述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594360"/>
          </a:xfrm>
          <a:prstGeom prst="rect">
            <a:avLst/>
          </a:prstGeom>
          <a:solidFill>
            <a:srgbClr val="00B8A3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097280"/>
            <a:ext cx="23469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学生端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06880" y="1097280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练得更准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737360"/>
            <a:ext cx="2621280" cy="2377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965960"/>
            <a:ext cx="109728" cy="109728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1" name="Text 9"/>
          <p:cNvSpPr/>
          <p:nvPr/>
        </p:nvSpPr>
        <p:spPr>
          <a:xfrm>
            <a:off x="841248" y="18745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试卷练习 · 6种题型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109728" cy="109728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841248" y="23317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自适应难度练习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2880360"/>
            <a:ext cx="109728" cy="109728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5" name="Text 13"/>
          <p:cNvSpPr/>
          <p:nvPr/>
        </p:nvSpPr>
        <p:spPr>
          <a:xfrm>
            <a:off x="841248" y="27889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错题本与错题重练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37560"/>
            <a:ext cx="109728" cy="109728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841248" y="32461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个人学习分析画像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109728" cy="109728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9" name="Text 17"/>
          <p:cNvSpPr/>
          <p:nvPr/>
        </p:nvSpPr>
        <p:spPr>
          <a:xfrm>
            <a:off x="841248" y="37033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AI答疑与智能助手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1360" y="1097280"/>
            <a:ext cx="2621280" cy="594360"/>
          </a:xfrm>
          <a:prstGeom prst="rect">
            <a:avLst/>
          </a:prstGeom>
          <a:solidFill>
            <a:srgbClr val="2D6CD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398520" y="1097280"/>
            <a:ext cx="23469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教师端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11040" y="1097280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教得更省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1360" y="1737360"/>
            <a:ext cx="2621280" cy="2377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444240" y="1965960"/>
            <a:ext cx="109728" cy="109728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3645408" y="18745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题库管理 · Excel导入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44240" y="2423160"/>
            <a:ext cx="109728" cy="109728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3645408" y="23317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多约束智能组卷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44240" y="2880360"/>
            <a:ext cx="109728" cy="109728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29" name="Text 27"/>
          <p:cNvSpPr/>
          <p:nvPr/>
        </p:nvSpPr>
        <p:spPr>
          <a:xfrm>
            <a:off x="3645408" y="27889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AI自动出题与入库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444240" y="3337560"/>
            <a:ext cx="109728" cy="109728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3645408" y="32461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试卷分析与学情总览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44240" y="3794760"/>
            <a:ext cx="109728" cy="109728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3645408" y="37033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主观题复核与班级管理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65520" y="1097280"/>
            <a:ext cx="2621280" cy="594360"/>
          </a:xfrm>
          <a:prstGeom prst="rect">
            <a:avLst/>
          </a:prstGeom>
          <a:solidFill>
            <a:srgbClr val="1A2B5E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02680" y="1097280"/>
            <a:ext cx="234696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管理员端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315200" y="1097280"/>
            <a:ext cx="1234440" cy="5943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管得更稳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65520" y="1737360"/>
            <a:ext cx="2621280" cy="23774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248400" y="1965960"/>
            <a:ext cx="109728" cy="10972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39" name="Text 37"/>
          <p:cNvSpPr/>
          <p:nvPr/>
        </p:nvSpPr>
        <p:spPr>
          <a:xfrm>
            <a:off x="6449568" y="18745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用户管理与权限分配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48400" y="2423160"/>
            <a:ext cx="109728" cy="10972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6449568" y="23317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注册审批闭环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48400" y="2880360"/>
            <a:ext cx="109728" cy="10972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43" name="Text 41"/>
          <p:cNvSpPr/>
          <p:nvPr/>
        </p:nvSpPr>
        <p:spPr>
          <a:xfrm>
            <a:off x="6449568" y="27889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全局题库与学情数据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48400" y="3337560"/>
            <a:ext cx="109728" cy="10972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6449568" y="32461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系统运行治理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48400" y="3794760"/>
            <a:ext cx="109728" cy="109728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47" name="Text 45"/>
          <p:cNvSpPr/>
          <p:nvPr/>
        </p:nvSpPr>
        <p:spPr>
          <a:xfrm>
            <a:off x="6449568" y="3703320"/>
            <a:ext cx="20726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科目级数据隔离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F0F4FF"/>
          </a:solidFill>
          <a:ln w="12700">
            <a:solidFill>
              <a:srgbClr val="00B8A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" y="4251960"/>
            <a:ext cx="7863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共同底座：统一题库  ·  RBAC权限控制  ·  学习数据中台  ·  可解释AI评阅  ·  教师最终决策</a:t>
            </a:r>
            <a:endParaRPr lang="en-US" sz="1100" dirty="0"/>
          </a:p>
        </p:txBody>
      </p:sp>
      <p:sp>
        <p:nvSpPr>
          <p:cNvPr id="5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创新一：基于网络流最大流的智能组卷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9319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3520440"/>
          </a:xfrm>
          <a:prstGeom prst="rect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问题建模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将「题型×难度」二维约束下的最优题目分配建模为二分图最大流问题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2148840"/>
            <a:ext cx="34747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算法实现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560320"/>
            <a:ext cx="91440" cy="9144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2" name="Text 10"/>
          <p:cNvSpPr/>
          <p:nvPr/>
        </p:nvSpPr>
        <p:spPr>
          <a:xfrm>
            <a:off x="868680" y="248716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 Edmonds-Karp 算法（BFS增广路）求解最大流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85800" y="3063240"/>
            <a:ext cx="91440" cy="9144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868680" y="299008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源点 → 题型节点 → 难度节点 → 汇点 的四层网络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" y="3566160"/>
            <a:ext cx="91440" cy="9144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868680" y="349300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约束不可行时自动生成最多4套替代方案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4069080"/>
            <a:ext cx="91440" cy="9144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8" name="Text 16"/>
          <p:cNvSpPr/>
          <p:nvPr/>
        </p:nvSpPr>
        <p:spPr>
          <a:xfrm>
            <a:off x="868680" y="3995928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选题策略：优先覆盖更多知识点 + 低频题目优先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109728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网络流模型示意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663440" y="425196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BFS 增广路求最大流 → 各「题型×难度」单元格的最优分配量</a:t>
            </a:r>
            <a:endParaRPr lang="en-US" sz="1000" dirty="0"/>
          </a:p>
        </p:txBody>
      </p:sp>
      <p:sp>
        <p:nvSpPr>
          <p:cNvPr id="45" name="Oval 44"/>
          <p:cNvSpPr/>
          <p:nvPr/>
        </p:nvSpPr>
        <p:spPr>
          <a:xfrm>
            <a:off x="6217920" y="1371600"/>
            <a:ext cx="457200" cy="457200"/>
          </a:xfrm>
          <a:prstGeom prst="ellipse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源点
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80560" y="2057400"/>
            <a:ext cx="548640" cy="347472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判断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157216" y="2057400"/>
            <a:ext cx="548640" cy="347472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单选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833872" y="2057400"/>
            <a:ext cx="548640" cy="347472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多选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10528" y="2057400"/>
            <a:ext cx="548640" cy="347472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填空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7187184" y="2057400"/>
            <a:ext cx="548640" cy="347472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简答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863840" y="2057400"/>
            <a:ext cx="548640" cy="347472"/>
          </a:xfrm>
          <a:prstGeom prst="round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程序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480560" y="2880360"/>
            <a:ext cx="594360" cy="347472"/>
          </a:xfrm>
          <a:prstGeom prst="round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入门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312664" y="2880360"/>
            <a:ext cx="594360" cy="347472"/>
          </a:xfrm>
          <a:prstGeom prst="round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简单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44768" y="2880360"/>
            <a:ext cx="594360" cy="347472"/>
          </a:xfrm>
          <a:prstGeom prst="round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中等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76872" y="2880360"/>
            <a:ext cx="594360" cy="347472"/>
          </a:xfrm>
          <a:prstGeom prst="round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困难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808976" y="2880360"/>
            <a:ext cx="594360" cy="347472"/>
          </a:xfrm>
          <a:prstGeom prst="round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  <a:latin typeface="Microsoft YaHei"/>
              </a:rPr>
              <a:t>挑战</a:t>
            </a:r>
          </a:p>
        </p:txBody>
      </p:sp>
      <p:sp>
        <p:nvSpPr>
          <p:cNvPr id="57" name="Oval 56"/>
          <p:cNvSpPr/>
          <p:nvPr/>
        </p:nvSpPr>
        <p:spPr>
          <a:xfrm>
            <a:off x="6217920" y="3520440"/>
            <a:ext cx="457200" cy="457200"/>
          </a:xfrm>
          <a:prstGeom prst="ellipse">
            <a:avLst/>
          </a:prstGeom>
          <a:solidFill>
            <a:srgbClr val="1A2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Microsoft YaHei"/>
              </a:rPr>
              <a:t>汇点
T</a:t>
            </a:r>
          </a:p>
        </p:txBody>
      </p:sp>
      <p:cxnSp>
        <p:nvCxnSpPr>
          <p:cNvPr id="58" name="Connector 57"/>
          <p:cNvCxnSpPr/>
          <p:nvPr/>
        </p:nvCxnSpPr>
        <p:spPr>
          <a:xfrm flipH="1">
            <a:off x="4754880" y="1828800"/>
            <a:ext cx="1691640" cy="228600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H="1">
            <a:off x="5431536" y="1828800"/>
            <a:ext cx="1014984" cy="228600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6108192" y="1828800"/>
            <a:ext cx="338328" cy="228600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6446520" y="1828800"/>
            <a:ext cx="338328" cy="228600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6446520" y="1828800"/>
            <a:ext cx="1014984" cy="228600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6446520" y="1828800"/>
            <a:ext cx="1691640" cy="228600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4754880" y="2404872"/>
            <a:ext cx="22860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4754880" y="2404872"/>
            <a:ext cx="854964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4754880" y="2404872"/>
            <a:ext cx="1687068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4754880" y="2404872"/>
            <a:ext cx="2519172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4754880" y="2404872"/>
            <a:ext cx="3351276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H="1">
            <a:off x="4777740" y="2404872"/>
            <a:ext cx="653796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5431536" y="2404872"/>
            <a:ext cx="178308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5431536" y="2404872"/>
            <a:ext cx="1010412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5431536" y="2404872"/>
            <a:ext cx="1842516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5431536" y="2404872"/>
            <a:ext cx="2674620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H="1">
            <a:off x="4777740" y="2404872"/>
            <a:ext cx="1330452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H="1">
            <a:off x="5609844" y="2404872"/>
            <a:ext cx="498348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6108192" y="2404872"/>
            <a:ext cx="333756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6108192" y="2404872"/>
            <a:ext cx="1165860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6108192" y="2404872"/>
            <a:ext cx="1997964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H="1">
            <a:off x="4777740" y="2404872"/>
            <a:ext cx="2007108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H="1">
            <a:off x="5609844" y="2404872"/>
            <a:ext cx="1175004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H="1">
            <a:off x="6441948" y="2404872"/>
            <a:ext cx="342900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6784848" y="2404872"/>
            <a:ext cx="489204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6784848" y="2404872"/>
            <a:ext cx="1321308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H="1">
            <a:off x="4777740" y="2404872"/>
            <a:ext cx="2683764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H="1">
            <a:off x="5609844" y="2404872"/>
            <a:ext cx="1851660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H="1">
            <a:off x="6441948" y="2404872"/>
            <a:ext cx="1019556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H="1">
            <a:off x="7274052" y="2404872"/>
            <a:ext cx="187452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7461504" y="2404872"/>
            <a:ext cx="644652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H="1">
            <a:off x="4777740" y="2404872"/>
            <a:ext cx="3360420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H="1">
            <a:off x="5609844" y="2404872"/>
            <a:ext cx="2528316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H="1">
            <a:off x="6441948" y="2404872"/>
            <a:ext cx="1696212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H="1">
            <a:off x="7274052" y="2404872"/>
            <a:ext cx="864108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8106156" y="2404872"/>
            <a:ext cx="32004" cy="475488"/>
          </a:xfrm>
          <a:prstGeom prst="line">
            <a:avLst/>
          </a:prstGeom>
          <a:ln w="6350">
            <a:solidFill>
              <a:srgbClr val="D1D5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31536" y="2404872"/>
            <a:ext cx="178308" cy="475488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" name="Rectangle 94"/>
          <p:cNvSpPr/>
          <p:nvPr/>
        </p:nvSpPr>
        <p:spPr>
          <a:xfrm>
            <a:off x="5157216" y="2542032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2D6CDF"/>
                </a:solidFill>
                <a:latin typeface="Microsoft YaHei"/>
              </a:rPr>
              <a:t>流=3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777740" y="3227832"/>
            <a:ext cx="1668780" cy="292608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5609844" y="3227832"/>
            <a:ext cx="836676" cy="292608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6441948" y="3227832"/>
            <a:ext cx="4572" cy="292608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H="1">
            <a:off x="6446520" y="3227832"/>
            <a:ext cx="827532" cy="292608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H="1">
            <a:off x="6446520" y="3227832"/>
            <a:ext cx="1659636" cy="292608"/>
          </a:xfrm>
          <a:prstGeom prst="line">
            <a:avLst/>
          </a:prstGeom>
          <a:ln w="9525"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4480560" y="1828800"/>
            <a:ext cx="14630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700" b="0">
                <a:solidFill>
                  <a:srgbClr val="6B7280"/>
                </a:solidFill>
                <a:latin typeface="Microsoft YaHei"/>
              </a:rPr>
              <a:t>容量 = 题型配额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480560" y="2468880"/>
            <a:ext cx="14630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700" b="0">
                <a:solidFill>
                  <a:srgbClr val="6B7280"/>
                </a:solidFill>
                <a:latin typeface="Microsoft YaHei"/>
              </a:rPr>
              <a:t>容量 = 题库库存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480560" y="3273552"/>
            <a:ext cx="14630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700" b="0">
                <a:solidFill>
                  <a:srgbClr val="6B7280"/>
                </a:solidFill>
                <a:latin typeface="Microsoft YaHei"/>
              </a:rPr>
              <a:t>容量 = 难度配额</a:t>
            </a:r>
          </a:p>
        </p:txBody>
      </p:sp>
      <p:sp>
        <p:nvSpPr>
          <p:cNvPr id="10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06243BC7-02C2-45A0-A99D-B6F71A24CA44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B9D84F-6228-2345-3752-DFA82A70FFA8}"/>
              </a:ext>
            </a:extLst>
          </p:cNvPr>
          <p:cNvSpPr txBox="1"/>
          <p:nvPr/>
        </p:nvSpPr>
        <p:spPr>
          <a:xfrm>
            <a:off x="36576" y="824416"/>
            <a:ext cx="4572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zh-CN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INNOVATION</a:t>
            </a:r>
            <a:endParaRPr lang="en-US" altLang="zh-CN" sz="11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0217215-6B1E-CD2E-1E3C-EDC2F3B9D722}"/>
              </a:ext>
            </a:extLst>
          </p:cNvPr>
          <p:cNvSpPr txBox="1"/>
          <p:nvPr/>
        </p:nvSpPr>
        <p:spPr>
          <a:xfrm>
            <a:off x="73152" y="181376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 err="1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智能组卷</a:t>
            </a:r>
            <a:r>
              <a:rPr lang="zh-CN" alt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页面展示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35194B75-9A4E-8758-5E22-F072D62F6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" y="1086027"/>
            <a:ext cx="5179059" cy="373090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662B5E7-CD7F-5CD5-85BC-2D20588B4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2210" y="-81643"/>
            <a:ext cx="4362529" cy="5143500"/>
          </a:xfrm>
          <a:prstGeom prst="rect">
            <a:avLst/>
          </a:prstGeom>
        </p:spPr>
      </p:pic>
      <p:sp>
        <p:nvSpPr>
          <p:cNvPr id="1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  <p:extLst>
      <p:ext uri="{BB962C8B-B14F-4D97-AF65-F5344CB8AC3E}">
        <p14:creationId xmlns:p14="http://schemas.microsoft.com/office/powerpoint/2010/main" val="3648550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创新二：逐题难度自适应算法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3891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352044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85800" y="1280160"/>
            <a:ext cx="320040" cy="320040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685800" y="12801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1234440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滑动窗口机制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1508760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基于最近5题正确率判断，避免单题偶然波动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85800" y="1938528"/>
            <a:ext cx="320040" cy="320040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3" name="Text 11"/>
          <p:cNvSpPr/>
          <p:nvPr/>
        </p:nvSpPr>
        <p:spPr>
          <a:xfrm>
            <a:off x="685800" y="1938528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1892808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双信号确认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2167128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连续两次触发同方向才调整，防止难度抖动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5800" y="2596896"/>
            <a:ext cx="320040" cy="320040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685800" y="2596896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551176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冷却期保护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2825496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调整后3题内不再调整，稳定学习体验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5800" y="3255264"/>
            <a:ext cx="320040" cy="320040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685800" y="3255264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3209544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阈值控制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3483864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正确率≥80%升难度，≤40%降难度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85800" y="3913632"/>
            <a:ext cx="320040" cy="320040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685800" y="3913632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3867912"/>
            <a:ext cx="3520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5级难度体系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" y="4142232"/>
            <a:ext cx="35204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入门→简单→中等→困难→挑战，边界保护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10972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难度变化轨迹示例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00600" y="15544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挑战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303520" y="1783080"/>
            <a:ext cx="3200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ot"/>
          </a:ln>
        </p:spPr>
      </p:sp>
      <p:sp>
        <p:nvSpPr>
          <p:cNvPr id="31" name="Text 29"/>
          <p:cNvSpPr/>
          <p:nvPr/>
        </p:nvSpPr>
        <p:spPr>
          <a:xfrm>
            <a:off x="4800600" y="20116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困难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303520" y="2240280"/>
            <a:ext cx="3200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ot"/>
          </a:ln>
        </p:spPr>
      </p:sp>
      <p:sp>
        <p:nvSpPr>
          <p:cNvPr id="33" name="Text 31"/>
          <p:cNvSpPr/>
          <p:nvPr/>
        </p:nvSpPr>
        <p:spPr>
          <a:xfrm>
            <a:off x="4800600" y="24688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中等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303520" y="2697480"/>
            <a:ext cx="3200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ot"/>
          </a:ln>
        </p:spPr>
      </p:sp>
      <p:sp>
        <p:nvSpPr>
          <p:cNvPr id="35" name="Text 33"/>
          <p:cNvSpPr/>
          <p:nvPr/>
        </p:nvSpPr>
        <p:spPr>
          <a:xfrm>
            <a:off x="4800600" y="29260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简单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303520" y="3154680"/>
            <a:ext cx="3200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ot"/>
          </a:ln>
        </p:spPr>
      </p:sp>
      <p:sp>
        <p:nvSpPr>
          <p:cNvPr id="37" name="Text 35"/>
          <p:cNvSpPr/>
          <p:nvPr/>
        </p:nvSpPr>
        <p:spPr>
          <a:xfrm>
            <a:off x="4800600" y="3383280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入门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3520" y="3611880"/>
            <a:ext cx="3200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dot"/>
          </a:ln>
        </p:spPr>
      </p:sp>
      <p:sp>
        <p:nvSpPr>
          <p:cNvPr id="59" name="Shape 57"/>
          <p:cNvSpPr/>
          <p:nvPr/>
        </p:nvSpPr>
        <p:spPr>
          <a:xfrm>
            <a:off x="5120640" y="4160520"/>
            <a:ext cx="356616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60" name="Text 58"/>
          <p:cNvSpPr/>
          <p:nvPr/>
        </p:nvSpPr>
        <p:spPr>
          <a:xfrm>
            <a:off x="5212080" y="416052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因材施教：答对自动升级，答错自动降级，稳定在「最近发展区」</a:t>
            </a:r>
            <a:endParaRPr lang="en-US" sz="1000" dirty="0"/>
          </a:p>
        </p:txBody>
      </p:sp>
      <p:sp>
        <p:nvSpPr>
          <p:cNvPr id="63" name="Oval 62"/>
          <p:cNvSpPr/>
          <p:nvPr/>
        </p:nvSpPr>
        <p:spPr>
          <a:xfrm>
            <a:off x="5285231" y="26334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" name="Connector 63"/>
          <p:cNvCxnSpPr/>
          <p:nvPr/>
        </p:nvCxnSpPr>
        <p:spPr>
          <a:xfrm>
            <a:off x="5349240" y="2697480"/>
            <a:ext cx="239150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5524382" y="26334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" name="Connector 65"/>
          <p:cNvCxnSpPr/>
          <p:nvPr/>
        </p:nvCxnSpPr>
        <p:spPr>
          <a:xfrm>
            <a:off x="5588390" y="2697480"/>
            <a:ext cx="239151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Oval 66"/>
          <p:cNvSpPr/>
          <p:nvPr/>
        </p:nvSpPr>
        <p:spPr>
          <a:xfrm>
            <a:off x="5763533" y="2633472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Connector 67"/>
          <p:cNvCxnSpPr/>
          <p:nvPr/>
        </p:nvCxnSpPr>
        <p:spPr>
          <a:xfrm>
            <a:off x="5827541" y="2697480"/>
            <a:ext cx="239151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Oval 68"/>
          <p:cNvSpPr/>
          <p:nvPr/>
        </p:nvSpPr>
        <p:spPr>
          <a:xfrm>
            <a:off x="6002684" y="26334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6066692" y="2697480"/>
            <a:ext cx="239151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Oval 70"/>
          <p:cNvSpPr/>
          <p:nvPr/>
        </p:nvSpPr>
        <p:spPr>
          <a:xfrm>
            <a:off x="6241835" y="26334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" name="Connector 71"/>
          <p:cNvCxnSpPr/>
          <p:nvPr/>
        </p:nvCxnSpPr>
        <p:spPr>
          <a:xfrm flipV="1">
            <a:off x="6305843" y="2240280"/>
            <a:ext cx="239150" cy="45720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6480985" y="21762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4" name="Connector 73"/>
          <p:cNvCxnSpPr/>
          <p:nvPr/>
        </p:nvCxnSpPr>
        <p:spPr>
          <a:xfrm>
            <a:off x="6544993" y="2240280"/>
            <a:ext cx="239151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6720136" y="2176272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6" name="Connector 75"/>
          <p:cNvCxnSpPr/>
          <p:nvPr/>
        </p:nvCxnSpPr>
        <p:spPr>
          <a:xfrm>
            <a:off x="6784144" y="2240280"/>
            <a:ext cx="239151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Oval 76"/>
          <p:cNvSpPr/>
          <p:nvPr/>
        </p:nvSpPr>
        <p:spPr>
          <a:xfrm>
            <a:off x="6959287" y="2176272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7023295" y="2240280"/>
            <a:ext cx="239151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7198438" y="2176272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0" name="Connector 79"/>
          <p:cNvCxnSpPr/>
          <p:nvPr/>
        </p:nvCxnSpPr>
        <p:spPr>
          <a:xfrm>
            <a:off x="7262446" y="2240280"/>
            <a:ext cx="239150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/>
          <p:nvPr/>
        </p:nvSpPr>
        <p:spPr>
          <a:xfrm>
            <a:off x="7437588" y="2176272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2" name="Connector 81"/>
          <p:cNvCxnSpPr/>
          <p:nvPr/>
        </p:nvCxnSpPr>
        <p:spPr>
          <a:xfrm>
            <a:off x="7501596" y="2240280"/>
            <a:ext cx="239151" cy="45720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3" name="Oval 82"/>
          <p:cNvSpPr/>
          <p:nvPr/>
        </p:nvSpPr>
        <p:spPr>
          <a:xfrm>
            <a:off x="7676739" y="26334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4" name="Connector 83"/>
          <p:cNvCxnSpPr/>
          <p:nvPr/>
        </p:nvCxnSpPr>
        <p:spPr>
          <a:xfrm>
            <a:off x="7740747" y="2697480"/>
            <a:ext cx="239151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Oval 84"/>
          <p:cNvSpPr/>
          <p:nvPr/>
        </p:nvSpPr>
        <p:spPr>
          <a:xfrm>
            <a:off x="7915890" y="26334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6" name="Connector 85"/>
          <p:cNvCxnSpPr/>
          <p:nvPr/>
        </p:nvCxnSpPr>
        <p:spPr>
          <a:xfrm>
            <a:off x="7979898" y="2697480"/>
            <a:ext cx="239151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Oval 86"/>
          <p:cNvSpPr/>
          <p:nvPr/>
        </p:nvSpPr>
        <p:spPr>
          <a:xfrm>
            <a:off x="8155041" y="26334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8" name="Connector 87"/>
          <p:cNvCxnSpPr/>
          <p:nvPr/>
        </p:nvCxnSpPr>
        <p:spPr>
          <a:xfrm>
            <a:off x="8219049" y="2697480"/>
            <a:ext cx="239151" cy="0"/>
          </a:xfrm>
          <a:prstGeom prst="line">
            <a:avLst/>
          </a:prstGeom>
          <a:ln w="25400">
            <a:solidFill>
              <a:srgbClr val="2D6C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Oval 88"/>
          <p:cNvSpPr/>
          <p:nvPr/>
        </p:nvSpPr>
        <p:spPr>
          <a:xfrm>
            <a:off x="8394192" y="2633472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257800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496950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736101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EF4444"/>
                </a:solidFill>
                <a:latin typeface="Microsoft YaHei"/>
              </a:rPr>
              <a:t>✗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975252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214403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53553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692704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EF4444"/>
                </a:solidFill>
                <a:latin typeface="Microsoft YaHei"/>
              </a:rPr>
              <a:t>✗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931855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EF4444"/>
                </a:solidFill>
                <a:latin typeface="Microsoft YaHei"/>
              </a:rPr>
              <a:t>✗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171006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EF4444"/>
                </a:solidFill>
                <a:latin typeface="Microsoft YaHei"/>
              </a:rPr>
              <a:t>✗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10156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EF4444"/>
                </a:solidFill>
                <a:latin typeface="Microsoft YaHei"/>
              </a:rPr>
              <a:t>✗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49307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88458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27609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366760" y="3730752"/>
            <a:ext cx="18288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700" b="1">
                <a:solidFill>
                  <a:srgbClr val="10B981"/>
                </a:solidFill>
                <a:latin typeface="Microsoft YaHei"/>
              </a:rPr>
              <a:t>✓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5276088" y="1508760"/>
            <a:ext cx="1102907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00" b="0">
                <a:solidFill>
                  <a:srgbClr val="6B7280"/>
                </a:solidFill>
                <a:latin typeface="Microsoft YaHei"/>
              </a:rPr>
              <a:t>预热期（&lt;5题不调整）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270673" y="1920240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00" b="1">
                <a:solidFill>
                  <a:srgbClr val="2D6CDF"/>
                </a:solidFill>
                <a:latin typeface="Microsoft YaHei"/>
              </a:rPr>
              <a:t>↑确认升级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10992" y="1920240"/>
            <a:ext cx="624605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00" b="0">
                <a:solidFill>
                  <a:srgbClr val="6B7280"/>
                </a:solidFill>
                <a:latin typeface="Microsoft YaHei"/>
              </a:rPr>
              <a:t>冷却期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7466427" y="2395728"/>
            <a:ext cx="548640" cy="1828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00" b="1">
                <a:solidFill>
                  <a:srgbClr val="2D6CDF"/>
                </a:solidFill>
                <a:latin typeface="Microsoft YaHei"/>
              </a:rPr>
              <a:t>↓确认降级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906746" y="2395728"/>
            <a:ext cx="624605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00" b="0">
                <a:solidFill>
                  <a:srgbClr val="6B7280"/>
                </a:solidFill>
                <a:latin typeface="Microsoft YaHei"/>
              </a:rPr>
              <a:t>冷却期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303520" y="3886200"/>
            <a:ext cx="1097280" cy="20116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800" b="0">
                <a:solidFill>
                  <a:srgbClr val="6B7280"/>
                </a:solidFill>
                <a:latin typeface="Microsoft YaHei"/>
              </a:rPr>
              <a:t>题目序号 →</a:t>
            </a:r>
          </a:p>
        </p:txBody>
      </p:sp>
      <p:sp>
        <p:nvSpPr>
          <p:cNvPr id="110" name="Oval 109"/>
          <p:cNvSpPr/>
          <p:nvPr/>
        </p:nvSpPr>
        <p:spPr>
          <a:xfrm>
            <a:off x="6702552" y="3922776"/>
            <a:ext cx="128016" cy="128016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6858000" y="3913632"/>
            <a:ext cx="3657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700" b="0">
                <a:solidFill>
                  <a:srgbClr val="374151"/>
                </a:solidFill>
                <a:latin typeface="Microsoft YaHei"/>
              </a:rPr>
              <a:t>答对</a:t>
            </a:r>
          </a:p>
        </p:txBody>
      </p:sp>
      <p:sp>
        <p:nvSpPr>
          <p:cNvPr id="112" name="Oval 111"/>
          <p:cNvSpPr/>
          <p:nvPr/>
        </p:nvSpPr>
        <p:spPr>
          <a:xfrm>
            <a:off x="7342631" y="3922776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7498079" y="3913632"/>
            <a:ext cx="365760" cy="16459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l"/>
            <a:r>
              <a:rPr sz="700" b="0">
                <a:solidFill>
                  <a:srgbClr val="374151"/>
                </a:solidFill>
                <a:latin typeface="Microsoft YaHei"/>
              </a:rPr>
              <a:t>答错</a:t>
            </a:r>
          </a:p>
        </p:txBody>
      </p:sp>
      <p:sp>
        <p:nvSpPr>
          <p:cNvPr id="114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创新三：AI主观题语义评阅 + 双大模型架构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双大模型协作架构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3474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371600"/>
            <a:ext cx="54864" cy="640080"/>
          </a:xfrm>
          <a:prstGeom prst="rect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智谱 GLM-4-flash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6916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出题 · 组卷 · 答疑 · 评阅 · 弱点分析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31920" y="1371600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80560" y="1371600"/>
            <a:ext cx="347472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371600"/>
            <a:ext cx="54864" cy="64008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4663440" y="1417320"/>
            <a:ext cx="3108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DeepSeek-chat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1691640"/>
            <a:ext cx="310896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智能对话 · 错题浓缩 · 同类题推荐 · 功能导航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194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主观题AI语义评阅流程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256032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2D6CD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25603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学生提交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主观题答案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011680" y="2880360"/>
            <a:ext cx="1828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194560" y="256032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1A2B5E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94560" y="25603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GLM-4 语义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等价判断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566160" y="2880360"/>
            <a:ext cx="1828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749040" y="256032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2D6CD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49040" y="25603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要点匹配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评分维度分析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20640" y="2880360"/>
            <a:ext cx="1828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03520" y="2560320"/>
            <a:ext cx="1645920" cy="640080"/>
          </a:xfrm>
          <a:prstGeom prst="roundRect">
            <a:avLst>
              <a:gd name="adj" fmla="val 17143"/>
            </a:avLst>
          </a:prstGeom>
          <a:solidFill>
            <a:srgbClr val="1A2B5E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303520" y="2560320"/>
            <a:ext cx="164592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四级评判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正确/部分/错误/复核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949440" y="2880360"/>
            <a:ext cx="1828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32320" y="2560320"/>
            <a:ext cx="1371600" cy="640080"/>
          </a:xfrm>
          <a:prstGeom prst="roundRect">
            <a:avLst>
              <a:gd name="adj" fmla="val 17143"/>
            </a:avLst>
          </a:prstGeom>
          <a:solidFill>
            <a:srgbClr val="00B8A3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32320" y="2560320"/>
            <a:ext cx="1371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教师复核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修正成绩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3429000"/>
            <a:ext cx="192024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429000"/>
            <a:ext cx="54864" cy="548640"/>
          </a:xfrm>
          <a:prstGeom prst="rect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594360" y="34747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matchedPoints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4360" y="37033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已覆盖要点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560320" y="3429000"/>
            <a:ext cx="192024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60320" y="3429000"/>
            <a:ext cx="54864" cy="54864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7" name="Text 35"/>
          <p:cNvSpPr/>
          <p:nvPr/>
        </p:nvSpPr>
        <p:spPr>
          <a:xfrm>
            <a:off x="2697480" y="34747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missingPoints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97480" y="37033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遗漏要点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3429000"/>
            <a:ext cx="192024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3429000"/>
            <a:ext cx="54864" cy="548640"/>
          </a:xfrm>
          <a:prstGeom prst="rect">
            <a:avLst/>
          </a:prstGeom>
          <a:solidFill>
            <a:srgbClr val="EF4444"/>
          </a:solidFill>
          <a:ln>
            <a:noFill/>
          </a:ln>
        </p:spPr>
      </p:sp>
      <p:sp>
        <p:nvSpPr>
          <p:cNvPr id="41" name="Text 39"/>
          <p:cNvSpPr/>
          <p:nvPr/>
        </p:nvSpPr>
        <p:spPr>
          <a:xfrm>
            <a:off x="4800600" y="34747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00600" y="37033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事实错误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766560" y="3429000"/>
            <a:ext cx="1920240" cy="548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66560" y="3429000"/>
            <a:ext cx="54864" cy="548640"/>
          </a:xfrm>
          <a:prstGeom prst="rect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45" name="Text 43"/>
          <p:cNvSpPr/>
          <p:nvPr/>
        </p:nvSpPr>
        <p:spPr>
          <a:xfrm>
            <a:off x="6903720" y="34747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安全降级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3703320"/>
            <a:ext cx="16916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AI不可用→转人工复核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覆盖填空题、简答题、程序论述题三种题型  ·  temperature=0.1 保证评判一致性  ·  人机协同闭环</a:t>
            </a:r>
            <a:endParaRPr lang="en-US" sz="10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创新四：多维度学习画像与个性化分析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INNOVATION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4389120" cy="35204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3520440"/>
          </a:xfrm>
          <a:prstGeom prst="rect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685800" y="123444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核心分析指标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45920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掌握度评分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057400" y="164592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(正确数+3) / (答题数+5) × 100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贝叶斯平滑，小样本不偏激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212848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数据置信度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57400" y="2212848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1 - e^(-答题数/20)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2441448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答题越多数据越可信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" y="277977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知识保持度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57400" y="2779776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正确率≥70% 且 超21天未练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85800" y="3008376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识别已掌握但可能遗忘的知识点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5800" y="3346704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跨场景迁移性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57400" y="3346704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试卷 vs 自适应 同知识点对比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85800" y="3575304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检测知识在不同场景下的稳定性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" y="3913632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进步趋势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057400" y="3913632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最近10题 vs 前10题正确率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85800" y="4142232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量化学习进步幅度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120640" y="1097280"/>
            <a:ext cx="3566160" cy="1600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120640" y="1097280"/>
            <a:ext cx="3566160" cy="54864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26" name="Text 24"/>
          <p:cNvSpPr/>
          <p:nvPr/>
        </p:nvSpPr>
        <p:spPr>
          <a:xfrm>
            <a:off x="5303520" y="11887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学生视角 · 我的学习分析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15087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综合正确率得分环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03520" y="1783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章节/题型/难度三维表现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03520" y="20574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每日学习趋势SVG折线图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03520" y="23317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个性化练习建议一键跳转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120640" y="2834640"/>
            <a:ext cx="3566160" cy="1600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120640" y="2834640"/>
            <a:ext cx="3566160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5303520" y="29260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教师视角 · 学生个性化分析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32461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班级共同薄弱点聚合排名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03520" y="352044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学生学习状态标签（稳定/波动/需加强）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03520" y="37947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关注学生一键跳转智能组卷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303520" y="406908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双数据源融合：试卷+自适应</a:t>
            </a:r>
            <a:endParaRPr lang="en-US" sz="10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1D5ACD-03E2-DC23-FE0E-CEA920846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BE4EBD9-D81E-DD65-DA6D-4A35D3E178A2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6DCF24-A8BD-D9BA-A5E2-4F78837DB321}"/>
              </a:ext>
            </a:extLst>
          </p:cNvPr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创新四：多维度学习画像与个性化分析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50E36B-7EE2-9368-521B-09EE7D2DDCF5}"/>
              </a:ext>
            </a:extLst>
          </p:cNvPr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INNOVATION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83DE1C-08D4-36FC-BAAB-56497C590D75}"/>
              </a:ext>
            </a:extLst>
          </p:cNvPr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D5E5848C-87BB-9A69-B0B7-8997DCD93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" y="960398"/>
            <a:ext cx="5185848" cy="3863062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FACC03DC-C363-2329-9069-B8C6EC27F8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160" y="677398"/>
            <a:ext cx="4002840" cy="4237502"/>
          </a:xfrm>
          <a:prstGeom prst="rect">
            <a:avLst/>
          </a:prstGeom>
        </p:spPr>
      </p:pic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  <p:extLst>
      <p:ext uri="{BB962C8B-B14F-4D97-AF65-F5344CB8AC3E}">
        <p14:creationId xmlns:p14="http://schemas.microsoft.com/office/powerpoint/2010/main" val="28896894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系统架构设计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ARCHITECTURE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00B8A3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0972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+ Vite + Element Plus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389120" y="10972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 · 三端统一交互 · 30+组件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0" cy="13716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1783080"/>
            <a:ext cx="8229600" cy="548640"/>
          </a:xfrm>
          <a:prstGeom prst="rect">
            <a:avLst/>
          </a:prstGeom>
          <a:solidFill>
            <a:srgbClr val="2D6CD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17830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Express 5 + JWT + RBAC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17830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· 认证权限与业务编排 · 70+API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0" y="2331720"/>
            <a:ext cx="0" cy="13716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2468880"/>
            <a:ext cx="8229600" cy="548640"/>
          </a:xfrm>
          <a:prstGeom prst="rect">
            <a:avLst/>
          </a:prstGeom>
          <a:solidFill>
            <a:srgbClr val="1A2B5E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5800" y="24688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MySQL 8.x + 连接池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89120" y="24688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 · 15+张表 · 题库/试卷/答案/学情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3017520"/>
            <a:ext cx="0" cy="137160"/>
          </a:xfrm>
          <a:prstGeom prst="line">
            <a:avLst/>
          </a:prstGeom>
          <a:noFill/>
          <a:ln w="25400">
            <a:solidFill>
              <a:srgbClr val="9CA3A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solidFill>
            <a:srgbClr val="F59E0B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315468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GLM-4 + DeepSeek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389120" y="3154680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AI层 · 出题/解析/语义评阅/智能对话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374904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1A2B5E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37490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题库内容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920240" y="4000500"/>
            <a:ext cx="109728" cy="0"/>
          </a:xfrm>
          <a:prstGeom prst="line">
            <a:avLst/>
          </a:prstGeom>
          <a:noFill/>
          <a:ln w="25400">
            <a:solidFill>
              <a:srgbClr val="00B8A3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2029968" y="374904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F0F4FF"/>
          </a:solidFill>
          <a:ln w="12700">
            <a:solidFill>
              <a:srgbClr val="00B8A3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029968" y="37490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组卷策略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18688" y="4000500"/>
            <a:ext cx="109728" cy="0"/>
          </a:xfrm>
          <a:prstGeom prst="line">
            <a:avLst/>
          </a:prstGeom>
          <a:noFill/>
          <a:ln w="25400">
            <a:solidFill>
              <a:srgbClr val="00B8A3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328416" y="374904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F0F4FF"/>
          </a:solidFill>
          <a:ln w="12700">
            <a:solidFill>
              <a:srgbClr val="00B8A3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28416" y="37490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作答记录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17136" y="4000500"/>
            <a:ext cx="109728" cy="0"/>
          </a:xfrm>
          <a:prstGeom prst="line">
            <a:avLst/>
          </a:prstGeom>
          <a:noFill/>
          <a:ln w="25400">
            <a:solidFill>
              <a:srgbClr val="00B8A3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626864" y="374904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F0F4FF"/>
          </a:solidFill>
          <a:ln w="12700">
            <a:solidFill>
              <a:srgbClr val="00B8A3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26864" y="37490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评阅结果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815584" y="4000500"/>
            <a:ext cx="109728" cy="0"/>
          </a:xfrm>
          <a:prstGeom prst="line">
            <a:avLst/>
          </a:prstGeom>
          <a:noFill/>
          <a:ln w="25400">
            <a:solidFill>
              <a:srgbClr val="00B8A3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925312" y="374904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F0F4FF"/>
          </a:solidFill>
          <a:ln w="12700">
            <a:solidFill>
              <a:srgbClr val="00B8A3"/>
            </a:solidFill>
            <a:prstDash val="solid"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925312" y="37490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个性化建议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114032" y="4000500"/>
            <a:ext cx="109728" cy="0"/>
          </a:xfrm>
          <a:prstGeom prst="line">
            <a:avLst/>
          </a:prstGeom>
          <a:noFill/>
          <a:ln w="25400">
            <a:solidFill>
              <a:srgbClr val="00B8A3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223760" y="3749040"/>
            <a:ext cx="1188720" cy="502920"/>
          </a:xfrm>
          <a:prstGeom prst="roundRect">
            <a:avLst>
              <a:gd name="adj" fmla="val 21818"/>
            </a:avLst>
          </a:prstGeom>
          <a:solidFill>
            <a:srgbClr val="1A2B5E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223760" y="3749040"/>
            <a:ext cx="1188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下一轮训练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设计原则：权限隔离  ·  增量兼容  ·  可解释结果  ·  教师最终决策</a:t>
            </a:r>
            <a:endParaRPr lang="en-US" sz="1000" dirty="0"/>
          </a:p>
        </p:txBody>
      </p:sp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功能实证 · 学生端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397764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16002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8" name="Shape 6"/>
          <p:cNvSpPr/>
          <p:nvPr/>
        </p:nvSpPr>
        <p:spPr>
          <a:xfrm>
            <a:off x="640080" y="1234440"/>
            <a:ext cx="411480" cy="411480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10" name="Text 8"/>
          <p:cNvSpPr/>
          <p:nvPr/>
        </p:nvSpPr>
        <p:spPr>
          <a:xfrm>
            <a:off x="1143000" y="123444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在线答题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6种题型：判断/单选/多选/填空/简答/程序论述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02996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答题卡导航 · 实时计时 · 断点续答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2322576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主观题标注「语义评阅·教师可复核」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1051560"/>
            <a:ext cx="397764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051560"/>
            <a:ext cx="54864" cy="1600200"/>
          </a:xfrm>
          <a:prstGeom prst="rect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6" name="Shape 14"/>
          <p:cNvSpPr/>
          <p:nvPr/>
        </p:nvSpPr>
        <p:spPr>
          <a:xfrm>
            <a:off x="4754880" y="1234440"/>
            <a:ext cx="411480" cy="41148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4754880" y="12344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5257800" y="123444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自适应练习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173736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从1级开始，逐题动态调整难度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202996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库存预检 + 方案推荐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2322576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难度轨迹可视化 · AI即时答疑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397764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788920"/>
            <a:ext cx="54864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4" name="Shape 22"/>
          <p:cNvSpPr/>
          <p:nvPr/>
        </p:nvSpPr>
        <p:spPr>
          <a:xfrm>
            <a:off x="640080" y="2971800"/>
            <a:ext cx="411480" cy="4114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5" name="Text 23"/>
          <p:cNvSpPr/>
          <p:nvPr/>
        </p:nvSpPr>
        <p:spPr>
          <a:xfrm>
            <a:off x="640080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26" name="Text 24"/>
          <p:cNvSpPr/>
          <p:nvPr/>
        </p:nvSpPr>
        <p:spPr>
          <a:xfrm>
            <a:off x="1143000" y="297180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错题本与分析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85800" y="347472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错题自动归集 · 一键重练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76732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章节/题型/难度三维统计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" y="4059936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SVG趋势图 · 个性化巩固建议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788920"/>
            <a:ext cx="3977640" cy="1600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0" y="2788920"/>
            <a:ext cx="54864" cy="1600200"/>
          </a:xfrm>
          <a:prstGeom prst="rect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32" name="Shape 30"/>
          <p:cNvSpPr/>
          <p:nvPr/>
        </p:nvSpPr>
        <p:spPr>
          <a:xfrm>
            <a:off x="4754880" y="2971800"/>
            <a:ext cx="411480" cy="411480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33" name="Text 31"/>
          <p:cNvSpPr/>
          <p:nvPr/>
        </p:nvSpPr>
        <p:spPr>
          <a:xfrm>
            <a:off x="4754880" y="29718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34" name="Text 32"/>
          <p:cNvSpPr/>
          <p:nvPr/>
        </p:nvSpPr>
        <p:spPr>
          <a:xfrm>
            <a:off x="5257800" y="2971800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AI智能助手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00600" y="3474720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浮动球设计 · 可拖拽对话面板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767328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自然语言组卷：「帮我出第3章10道单选题」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00600" y="4059936"/>
            <a:ext cx="35204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错题浓缩 · 同类题推荐 · 功能导航</a:t>
            </a:r>
            <a:endParaRPr lang="en-US" sz="1000" dirty="0"/>
          </a:p>
        </p:txBody>
      </p:sp>
      <p:sp>
        <p:nvSpPr>
          <p:cNvPr id="3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BD59D-BC1B-1A31-783E-CB50318F3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A8FDB68-1438-6DF5-3B7B-9F5F3E9E1A7C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9812124-C6DD-D995-2BD6-99C41B78E3C1}"/>
              </a:ext>
            </a:extLst>
          </p:cNvPr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功能实证 · 学生端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3947A7B-0941-D911-E743-959C765C1953}"/>
              </a:ext>
            </a:extLst>
          </p:cNvPr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DEMONSTRATION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D634E3-9078-37DF-F3B4-5F72F6559E0F}"/>
              </a:ext>
            </a:extLst>
          </p:cNvPr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pic>
        <p:nvPicPr>
          <p:cNvPr id="43" name="Picture 30" descr="student_practice.png">
            <a:extLst>
              <a:ext uri="{FF2B5EF4-FFF2-40B4-BE49-F238E27FC236}">
                <a16:creationId xmlns:a16="http://schemas.microsoft.com/office/drawing/2014/main" id="{68EB7FC3-1F8B-3B3D-CAF5-8E3DD6BB0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63" y="1329866"/>
            <a:ext cx="2276623" cy="3161190"/>
          </a:xfrm>
          <a:prstGeom prst="rect">
            <a:avLst/>
          </a:prstGeom>
        </p:spPr>
      </p:pic>
      <p:pic>
        <p:nvPicPr>
          <p:cNvPr id="45" name="Picture 26" descr="student_home.png">
            <a:extLst>
              <a:ext uri="{FF2B5EF4-FFF2-40B4-BE49-F238E27FC236}">
                <a16:creationId xmlns:a16="http://schemas.microsoft.com/office/drawing/2014/main" id="{D84C130D-BA89-CEC7-79EB-91F443177D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2648" y="1329866"/>
            <a:ext cx="2718704" cy="3161190"/>
          </a:xfrm>
          <a:prstGeom prst="rect">
            <a:avLst/>
          </a:prstGeom>
        </p:spPr>
      </p:pic>
      <p:pic>
        <p:nvPicPr>
          <p:cNvPr id="47" name="Picture 26" descr="student_home.png">
            <a:extLst>
              <a:ext uri="{FF2B5EF4-FFF2-40B4-BE49-F238E27FC236}">
                <a16:creationId xmlns:a16="http://schemas.microsoft.com/office/drawing/2014/main" id="{FC6A799F-B1DD-01B0-B4FB-3BB3FC244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594" y="1329866"/>
            <a:ext cx="2718704" cy="3161190"/>
          </a:xfrm>
          <a:prstGeom prst="rect">
            <a:avLst/>
          </a:prstGeom>
        </p:spPr>
      </p:pic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  <p:extLst>
      <p:ext uri="{BB962C8B-B14F-4D97-AF65-F5344CB8AC3E}">
        <p14:creationId xmlns:p14="http://schemas.microsoft.com/office/powerpoint/2010/main" val="308385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功能实证 · 教师端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1148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3566160"/>
          </a:xfrm>
          <a:prstGeom prst="rect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多约束智能组卷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60020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四步配置：基本设置 → 题型结构 → 难度结构 → 组卷检查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2075688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9套预设方案 + 手动自定义 + AI辅助三模式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2551176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题型×难度×章节×知识点 四维交叉校验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3026664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实时库存检查（debounce 300ms）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3502152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不可行时自动推荐替代调整方案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85800" y="39776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组卷报告：目标vs实际分布对比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46320" y="1051560"/>
            <a:ext cx="384048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51560"/>
            <a:ext cx="54864" cy="105156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5029200" y="11430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AI自动出题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按章节/知识点/题型/难度生成题目草稿 → 人工审核 → 入库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6916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Excel批量导入 · 6种题型 · 重复ID自动跳过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240280"/>
            <a:ext cx="3840480" cy="1143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2240280"/>
            <a:ext cx="54864" cy="11430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2" name="Text 20"/>
          <p:cNvSpPr/>
          <p:nvPr/>
        </p:nvSpPr>
        <p:spPr>
          <a:xfrm>
            <a:off x="5029200" y="23317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试卷分析与学情总览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26060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正确率分析 · 成绩分布 · 班级对比 · 分数段统计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8803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主观题复核 · 班级管理 · 学生个性化分析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46320" y="3520440"/>
            <a:ext cx="3840480" cy="105156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520440"/>
            <a:ext cx="54864" cy="1051560"/>
          </a:xfrm>
          <a:prstGeom prst="rect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27" name="Text 25"/>
          <p:cNvSpPr/>
          <p:nvPr/>
        </p:nvSpPr>
        <p:spPr>
          <a:xfrm>
            <a:off x="5029200" y="36118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自适应学情总览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388620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学生人数 · 练习人数 · 有效练习次数 · 整体正确率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41605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关注学生标记 · 最近练习记录 · 建议跳转组卷</a:t>
            </a:r>
            <a:endParaRPr lang="en-US" sz="1000" dirty="0"/>
          </a:p>
        </p:txBody>
      </p:sp>
      <p:sp>
        <p:nvSpPr>
          <p:cNvPr id="3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9E6C0-E409-19FC-42A1-9327E7E86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E2C48EE-B05F-639F-B66F-931D1F2A0A6D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CC3B3A-AD6B-53A2-75F3-509509E00966}"/>
              </a:ext>
            </a:extLst>
          </p:cNvPr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功能实证 · 教师端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78FFBB5-1356-08A2-A769-C32BAB7135C8}"/>
              </a:ext>
            </a:extLst>
          </p:cNvPr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DEMONSTRATION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F9FA743-589D-FA02-6D83-8F484514E71C}"/>
              </a:ext>
            </a:extLst>
          </p:cNvPr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pic>
        <p:nvPicPr>
          <p:cNvPr id="35" name="Picture 30" descr="teacher_questions.png">
            <a:extLst>
              <a:ext uri="{FF2B5EF4-FFF2-40B4-BE49-F238E27FC236}">
                <a16:creationId xmlns:a16="http://schemas.microsoft.com/office/drawing/2014/main" id="{C934F69D-3753-2C91-D76F-41EAB9D29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42" y="1312252"/>
            <a:ext cx="2525702" cy="3118016"/>
          </a:xfrm>
          <a:prstGeom prst="rect">
            <a:avLst/>
          </a:prstGeom>
        </p:spPr>
      </p:pic>
      <p:pic>
        <p:nvPicPr>
          <p:cNvPr id="37" name="Picture 28" descr="teacher_analytics.png">
            <a:extLst>
              <a:ext uri="{FF2B5EF4-FFF2-40B4-BE49-F238E27FC236}">
                <a16:creationId xmlns:a16="http://schemas.microsoft.com/office/drawing/2014/main" id="{BAE164C2-2523-673C-4957-F37112A2D9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7529" y="1312252"/>
            <a:ext cx="2810642" cy="3118016"/>
          </a:xfrm>
          <a:prstGeom prst="rect">
            <a:avLst/>
          </a:prstGeom>
        </p:spPr>
      </p:pic>
      <p:pic>
        <p:nvPicPr>
          <p:cNvPr id="39" name="Picture 26" descr="teacher_exam_gen.png">
            <a:extLst>
              <a:ext uri="{FF2B5EF4-FFF2-40B4-BE49-F238E27FC236}">
                <a16:creationId xmlns:a16="http://schemas.microsoft.com/office/drawing/2014/main" id="{A70E1CD9-9D1C-FCC3-2381-3ACB49E079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639" y="1236526"/>
            <a:ext cx="2648361" cy="3193742"/>
          </a:xfrm>
          <a:prstGeom prst="rect">
            <a:avLst/>
          </a:prstGeom>
        </p:spPr>
      </p:pic>
      <p:sp>
        <p:nvSpPr>
          <p:cNvPr id="4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  <p:extLst>
      <p:ext uri="{BB962C8B-B14F-4D97-AF65-F5344CB8AC3E}">
        <p14:creationId xmlns:p14="http://schemas.microsoft.com/office/powerpoint/2010/main" val="1016197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功能实证 · 管理员端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26212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54864" cy="2743200"/>
          </a:xfrm>
          <a:prstGeom prst="rect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685800" y="1280160"/>
            <a:ext cx="216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用户与权限管理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1691640"/>
            <a:ext cx="2164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288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三角色RBAC：admin/teacher/student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教师科目级数据隔离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7432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用户启停 · 重置密码 · 批量操作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JWT Token 7天有效期 · bcrypt加盐哈希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61360" y="1097280"/>
            <a:ext cx="26212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61360" y="1097280"/>
            <a:ext cx="54864" cy="2743200"/>
          </a:xfrm>
          <a:prstGeom prst="rect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3489960" y="1280160"/>
            <a:ext cx="216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注册审批闭环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489960" y="1691640"/>
            <a:ext cx="2164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9960" y="18288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非自助注册 · 审批制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89960" y="22860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教师申请含学院/专业/科目/工号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89960" y="27432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管理员审核 → 通过/拒绝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89960" y="32004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通过后自动创建账号并关联科目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65520" y="1097280"/>
            <a:ext cx="2621280" cy="27432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65520" y="1097280"/>
            <a:ext cx="54864" cy="27432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6294120" y="1280160"/>
            <a:ext cx="216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全局数据治理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294120" y="1691640"/>
            <a:ext cx="216408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94120" y="18288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全局题库与学习数据统计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94120" y="22860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增量字段兼容 · 减少旧数据迁移风险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94120" y="27432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用户反馈管理：提交/回复/状态跟踪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94120" y="3200400"/>
            <a:ext cx="216408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系统运行监控与日志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023360"/>
            <a:ext cx="8229600" cy="50292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457200" y="40416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70+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57200" y="429768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API接口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103120" y="40416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15+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103120" y="429768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749040" y="40416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30+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749040" y="429768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前端组件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94960" y="40416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394960" y="429768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题型支持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040880" y="4041648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040880" y="4297680"/>
            <a:ext cx="16459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大模型协作</a:t>
            </a:r>
            <a:endParaRPr lang="en-US" sz="900" dirty="0"/>
          </a:p>
        </p:txBody>
      </p:sp>
      <p:sp>
        <p:nvSpPr>
          <p:cNvPr id="41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功能实证 · 管理员端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DEMONSTRATION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8092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Microsoft YaHei"/>
              </a:rPr>
              <a:t>三角色RBAC权限管理 · 注册审批闭环 · 全局数据治理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2545600" cy="1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8100" cy="1280000"/>
          </a:xfrm>
          <a:prstGeom prst="rect">
            <a:avLst/>
          </a:prstGeom>
          <a:solidFill>
            <a:srgbClr val="00B8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71500" y="1356360"/>
            <a:ext cx="23551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2B5E"/>
                </a:solidFill>
                <a:latin typeface="Microsoft YaHei"/>
              </a:rPr>
              <a:t>用户与权限管理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1584960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三角色RBAC：admin/teacher/student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1804416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教师科目级数据隔离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2023872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用户启停 · 重置密码 · 批量操作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2243328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JWT 7天有效 · bcrypt加盐哈希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31400" y="1280160"/>
            <a:ext cx="2545600" cy="1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31400" y="1280160"/>
            <a:ext cx="38100" cy="1280000"/>
          </a:xfrm>
          <a:prstGeom prst="rect">
            <a:avLst/>
          </a:prstGeom>
          <a:solidFill>
            <a:srgbClr val="2D6C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345700" y="1356360"/>
            <a:ext cx="23551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2B5E"/>
                </a:solidFill>
                <a:latin typeface="Microsoft YaHei"/>
              </a:rPr>
              <a:t>注册审批闭环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45700" y="1584960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非自助注册 · 审批制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45700" y="1804416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教师申请含学院/专业/科目/工号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45700" y="2023872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管理员审核 → 通过/拒绝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45700" y="2243328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通过后自动创建账号并关联科目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05600" y="1280160"/>
            <a:ext cx="2545600" cy="12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05600" y="1280160"/>
            <a:ext cx="38100" cy="1280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119900" y="1356360"/>
            <a:ext cx="23551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A2B5E"/>
                </a:solidFill>
                <a:latin typeface="Microsoft YaHei"/>
              </a:rPr>
              <a:t>全局数据治理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19900" y="1584960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全局题库与学习数据统计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19900" y="1804416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增量字段兼容 · 减少迁移风险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19900" y="2023872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用户反馈管理：提交/回复/跟踪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19900" y="2243328"/>
            <a:ext cx="23551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6B7280"/>
                </a:solidFill>
                <a:latin typeface="Microsoft YaHei"/>
              </a:rPr>
              <a:t>•  系统运行监控与日志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000" y="2700000"/>
            <a:ext cx="1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8A3"/>
                </a:solidFill>
                <a:latin typeface="Microsoft YaHei"/>
              </a:rPr>
              <a:t>70+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000" y="2974320"/>
            <a:ext cx="150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API接口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2000" y="2700000"/>
            <a:ext cx="1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8A3"/>
                </a:solidFill>
                <a:latin typeface="Microsoft YaHei"/>
              </a:rPr>
              <a:t>15+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62000" y="2974320"/>
            <a:ext cx="150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数据表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22000" y="2700000"/>
            <a:ext cx="1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8A3"/>
                </a:solidFill>
                <a:latin typeface="Microsoft YaHei"/>
              </a:rPr>
              <a:t>30+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22000" y="2974320"/>
            <a:ext cx="150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前端组件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82000" y="2700000"/>
            <a:ext cx="1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8A3"/>
                </a:solidFill>
                <a:latin typeface="Microsoft YaHe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82000" y="2974320"/>
            <a:ext cx="150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题型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2000" y="2700000"/>
            <a:ext cx="150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B8A3"/>
                </a:solidFill>
                <a:latin typeface="Microsoft YaHei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2000" y="2974320"/>
            <a:ext cx="150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B7280"/>
                </a:solidFill>
                <a:latin typeface="Microsoft YaHei"/>
              </a:rPr>
              <a:t>大模型</a:t>
            </a:r>
          </a:p>
        </p:txBody>
      </p:sp>
      <p:pic>
        <p:nvPicPr>
          <p:cNvPr id="38" name="Picture 37" descr="teacher_ques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140" y="3350000"/>
            <a:ext cx="1800000" cy="1350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594360" y="4710000"/>
            <a:ext cx="2575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CA3AF"/>
                </a:solidFill>
                <a:latin typeface="Microsoft YaHei"/>
              </a:rPr>
              <a:t>管理员首页</a:t>
            </a:r>
          </a:p>
        </p:txBody>
      </p:sp>
      <p:pic>
        <p:nvPicPr>
          <p:cNvPr id="40" name="Picture 39" descr="admin_approva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580" y="3350000"/>
            <a:ext cx="1800000" cy="1350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3352800" y="4710000"/>
            <a:ext cx="2575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CA3AF"/>
                </a:solidFill>
                <a:latin typeface="Microsoft YaHei"/>
              </a:rPr>
              <a:t>注册审批</a:t>
            </a:r>
          </a:p>
        </p:txBody>
      </p:sp>
      <p:pic>
        <p:nvPicPr>
          <p:cNvPr id="42" name="Picture 41" descr="admin_us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9020" y="3350000"/>
            <a:ext cx="1800000" cy="1350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111240" y="4710000"/>
            <a:ext cx="25755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9CA3AF"/>
                </a:solidFill>
                <a:latin typeface="Microsoft YaHei"/>
              </a:rPr>
              <a:t>用户管理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4360" y="4780000"/>
            <a:ext cx="8092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CA3AF"/>
                </a:solidFill>
                <a:latin typeface="Microsoft YaHei"/>
              </a:rPr>
              <a:t>来源：智启题库系统实拍（localhost:5173）</a:t>
            </a:r>
          </a:p>
        </p:txBody>
      </p:sp>
      <p:sp>
        <p:nvSpPr>
          <p:cNvPr id="45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E8496-238B-EB7D-68DF-D9237ECD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F5D8992-ECAD-E2BF-8F0D-F9438713C96D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9582B1-0BE3-40B5-0C97-99E8759AAF4F}"/>
              </a:ext>
            </a:extLst>
          </p:cNvPr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竞争优势分析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196F08D-A573-6BF0-A2DC-FEF0C2454D04}"/>
              </a:ext>
            </a:extLst>
          </p:cNvPr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ADVANTAGE</a:t>
            </a:r>
            <a:endParaRPr lang="en-US" sz="11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763B6F2-1963-5CD7-A77C-42D7EDCE55E0}"/>
              </a:ext>
            </a:extLst>
          </p:cNvPr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D8EA1B03-CB83-5C5D-AD5E-24DEC325FAB2}"/>
              </a:ext>
            </a:extLst>
          </p:cNvPr>
          <p:cNvSpPr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solidFill>
            <a:srgbClr val="F0F4FF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30C19A9D-0573-11D9-65FE-E1132CBC5530}"/>
              </a:ext>
            </a:extLst>
          </p:cNvPr>
          <p:cNvSpPr/>
          <p:nvPr/>
        </p:nvSpPr>
        <p:spPr>
          <a:xfrm>
            <a:off x="457200" y="3931920"/>
            <a:ext cx="54864" cy="64008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3C2480F-E34E-EE62-7532-F3CA7EFED5E9}"/>
              </a:ext>
            </a:extLst>
          </p:cNvPr>
          <p:cNvSpPr/>
          <p:nvPr/>
        </p:nvSpPr>
        <p:spPr>
          <a:xfrm>
            <a:off x="640080" y="393192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核心壁垒：题库资产、学习记录与教师反馈持续共同优化，形成数据飞轮</a:t>
            </a:r>
            <a:r>
              <a:rPr lang="zh-CN" altLang="en-US" sz="12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，（详细的竞品功能对比矩阵，在项目书中有完整的展示）</a:t>
            </a:r>
            <a:endParaRPr lang="en-US" sz="1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B1DC41D-1628-CC9B-24FE-5580F2C6C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939003"/>
            <a:ext cx="4762619" cy="2915138"/>
          </a:xfrm>
          <a:prstGeom prst="rect">
            <a:avLst/>
          </a:prstGeom>
        </p:spPr>
      </p:pic>
      <p:sp>
        <p:nvSpPr>
          <p:cNvPr id="13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  <p:extLst>
      <p:ext uri="{BB962C8B-B14F-4D97-AF65-F5344CB8AC3E}">
        <p14:creationId xmlns:p14="http://schemas.microsoft.com/office/powerpoint/2010/main" val="13621751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应用推广路径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 APPLICATION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143000" y="1188720"/>
            <a:ext cx="548640" cy="548640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7" name="Text 5"/>
          <p:cNvSpPr/>
          <p:nvPr/>
        </p:nvSpPr>
        <p:spPr>
          <a:xfrm>
            <a:off x="1143000" y="1188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920240" cy="1600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874520"/>
            <a:ext cx="1920240" cy="54864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10" name="Text 8"/>
          <p:cNvSpPr/>
          <p:nvPr/>
        </p:nvSpPr>
        <p:spPr>
          <a:xfrm>
            <a:off x="457200" y="1965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选择1-2门课程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验证组卷与分析流程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沉淀题库规范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1463040"/>
            <a:ext cx="1828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246120" y="1188720"/>
            <a:ext cx="548640" cy="54864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4" name="Text 12"/>
          <p:cNvSpPr/>
          <p:nvPr/>
        </p:nvSpPr>
        <p:spPr>
          <a:xfrm>
            <a:off x="3246120" y="1188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2560320" y="1874520"/>
            <a:ext cx="1920240" cy="1600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560320" y="1874520"/>
            <a:ext cx="1920240" cy="54864"/>
          </a:xfrm>
          <a:prstGeom prst="rect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7" name="Text 15"/>
          <p:cNvSpPr/>
          <p:nvPr/>
        </p:nvSpPr>
        <p:spPr>
          <a:xfrm>
            <a:off x="2560320" y="1965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651760" y="233172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建立教师共创小组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形成课程模板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收集反馈迭代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80560" y="1463040"/>
            <a:ext cx="1828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5349240" y="1188720"/>
            <a:ext cx="548640" cy="548640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21" name="Text 19"/>
          <p:cNvSpPr/>
          <p:nvPr/>
        </p:nvSpPr>
        <p:spPr>
          <a:xfrm>
            <a:off x="5349240" y="1188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663440" y="1874520"/>
            <a:ext cx="1920240" cy="1600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874520"/>
            <a:ext cx="1920240" cy="54864"/>
          </a:xfrm>
          <a:prstGeom prst="rect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4663440" y="1965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754880" y="233172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复制到院系与专业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按学校部署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扩展科目覆盖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83680" y="1463040"/>
            <a:ext cx="182880" cy="0"/>
          </a:xfrm>
          <a:prstGeom prst="line">
            <a:avLst/>
          </a:prstGeom>
          <a:noFill/>
          <a:ln w="25400">
            <a:solidFill>
              <a:srgbClr val="9CA3AF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452360" y="11887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28" name="Text 26"/>
          <p:cNvSpPr/>
          <p:nvPr/>
        </p:nvSpPr>
        <p:spPr>
          <a:xfrm>
            <a:off x="7452360" y="11887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60" dirty="0"/>
          </a:p>
        </p:txBody>
      </p:sp>
      <p:sp>
        <p:nvSpPr>
          <p:cNvPr id="29" name="Shape 27"/>
          <p:cNvSpPr/>
          <p:nvPr/>
        </p:nvSpPr>
        <p:spPr>
          <a:xfrm>
            <a:off x="6766560" y="1874520"/>
            <a:ext cx="1920240" cy="16002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66560" y="1874520"/>
            <a:ext cx="19202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1" name="Text 29"/>
          <p:cNvSpPr/>
          <p:nvPr/>
        </p:nvSpPr>
        <p:spPr>
          <a:xfrm>
            <a:off x="6766560" y="1965960"/>
            <a:ext cx="192024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858000" y="2331720"/>
            <a:ext cx="173736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提供运维与增值模块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校级教学质量洞察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持续数据飞轮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34" name="Text 32"/>
          <p:cNvSpPr/>
          <p:nvPr/>
        </p:nvSpPr>
        <p:spPr>
          <a:xfrm>
            <a:off x="640080" y="37490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下一步需验证的关键指标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3749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教师节省组卷时间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023360" y="3749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学生训练完成率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薄弱点改善幅度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132320" y="3749040"/>
            <a:ext cx="1463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题库复用率</a:t>
            </a:r>
            <a:endParaRPr lang="en-US" sz="1000" dirty="0"/>
          </a:p>
        </p:txBody>
      </p:sp>
      <p:sp>
        <p:nvSpPr>
          <p:cNvPr id="39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未来发展规划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58112" y="1307592"/>
            <a:ext cx="219456" cy="219456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457200" y="1600200"/>
            <a:ext cx="262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近期 · 场景化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27760" y="19659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00B8A3">
              <a:alpha val="15000"/>
            </a:srgbClr>
          </a:solidFill>
          <a:ln w="12700">
            <a:solidFill>
              <a:srgbClr val="00B8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7760" y="19659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可直接开发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2621280" cy="1691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" y="2514600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定时训练与任务提醒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971800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课程/班级训练计划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移动端体验优化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462272" y="1307592"/>
            <a:ext cx="219456" cy="219456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3261360" y="1600200"/>
            <a:ext cx="262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· 资料流转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931920" y="19659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2D6CDF">
              <a:alpha val="15000"/>
            </a:srgbClr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19659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D6CD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需验证准确率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61360" y="2377440"/>
            <a:ext cx="2621280" cy="1691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444240" y="2514600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学习资料导入与格式转换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44240" y="2971800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图片OCR识别与题目抽取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44240" y="3429000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题目导入导出标准化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266432" y="1307592"/>
            <a:ext cx="219456" cy="219456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6065520" y="1600200"/>
            <a:ext cx="2621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远期 · 教学协同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36080" y="196596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1A2B5E">
              <a:alpha val="15000"/>
            </a:srgbClr>
          </a:solidFill>
          <a:ln w="12700">
            <a:solidFill>
              <a:srgbClr val="1A2B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36080" y="19659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研究储备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65520" y="2377440"/>
            <a:ext cx="2621280" cy="169164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248400" y="2514600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多课程知识图谱构建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48400" y="2971800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个体学习路径模拟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48400" y="3429000"/>
            <a:ext cx="225552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校级教学质量洞察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规划原则：每个方向都从教师与学生真实使用场景出发，以小范围试点数据决定是否扩展</a:t>
            </a:r>
            <a:endParaRPr lang="en-US" sz="1000" dirty="0"/>
          </a:p>
        </p:txBody>
      </p:sp>
      <p:sp>
        <p:nvSpPr>
          <p:cNvPr id="32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09244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团队介绍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0924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00B8A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 TEAM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503920" y="4823460"/>
            <a:ext cx="2743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1499616" cy="29260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78408" y="1417320"/>
            <a:ext cx="640080" cy="640080"/>
          </a:xfrm>
          <a:prstGeom prst="ellipse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978408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产品与调研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2606040"/>
            <a:ext cx="1133856" cy="0"/>
          </a:xfrm>
          <a:prstGeom prst="line">
            <a:avLst/>
          </a:prstGeom>
          <a:noFill/>
          <a:ln w="19050">
            <a:solidFill>
              <a:srgbClr val="00B8A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4320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课程场景调研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需求验证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" y="347472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交互方案设计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185416" y="1188720"/>
            <a:ext cx="1499616" cy="29260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615184" y="1417320"/>
            <a:ext cx="640080" cy="640080"/>
          </a:xfrm>
          <a:prstGeom prst="ellipse">
            <a:avLst/>
          </a:prstGeom>
          <a:solidFill>
            <a:srgbClr val="2D6CDF"/>
          </a:solidFill>
          <a:ln>
            <a:noFill/>
          </a:ln>
        </p:spPr>
      </p:sp>
      <p:sp>
        <p:nvSpPr>
          <p:cNvPr id="16" name="Text 14"/>
          <p:cNvSpPr/>
          <p:nvPr/>
        </p:nvSpPr>
        <p:spPr>
          <a:xfrm>
            <a:off x="2615184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120" dirty="0"/>
          </a:p>
        </p:txBody>
      </p:sp>
      <p:sp>
        <p:nvSpPr>
          <p:cNvPr id="17" name="Text 15"/>
          <p:cNvSpPr/>
          <p:nvPr/>
        </p:nvSpPr>
        <p:spPr>
          <a:xfrm>
            <a:off x="2185416" y="2194560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前端与体验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368296" y="2606040"/>
            <a:ext cx="1133856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76856" y="274320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三端页面开发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76856" y="310896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数据可视化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76856" y="347472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822192" y="1188720"/>
            <a:ext cx="1499616" cy="29260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1A2B5E"/>
          </a:solidFill>
          <a:ln>
            <a:noFill/>
          </a:ln>
        </p:spPr>
      </p:sp>
      <p:sp>
        <p:nvSpPr>
          <p:cNvPr id="24" name="Text 22"/>
          <p:cNvSpPr/>
          <p:nvPr/>
        </p:nvSpPr>
        <p:spPr>
          <a:xfrm>
            <a:off x="4251960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3822192" y="2194560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后端与数据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005072" y="2606040"/>
            <a:ext cx="1133856" cy="0"/>
          </a:xfrm>
          <a:prstGeom prst="line">
            <a:avLst/>
          </a:prstGeom>
          <a:noFill/>
          <a:ln w="19050">
            <a:solidFill>
              <a:srgbClr val="1A2B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13632" y="274320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API接口设计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913632" y="310896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权限与数据库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913632" y="347472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题库与学情数据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58968" y="1188720"/>
            <a:ext cx="1499616" cy="29260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888736" y="141732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32" name="Text 30"/>
          <p:cNvSpPr/>
          <p:nvPr/>
        </p:nvSpPr>
        <p:spPr>
          <a:xfrm>
            <a:off x="5888736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458968" y="2194560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算法与策略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41848" y="2606040"/>
            <a:ext cx="1133856" cy="0"/>
          </a:xfrm>
          <a:prstGeom prst="line">
            <a:avLst/>
          </a:prstGeom>
          <a:noFill/>
          <a:ln w="1905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50408" y="274320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组卷算法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550408" y="310896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自适应策略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550408" y="347472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语义评阅规则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95744" y="1188720"/>
            <a:ext cx="1499616" cy="292608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50800" dist="25400" dir="16200000" algn="bl" rotWithShape="0">
              <a:srgbClr val="000000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525512" y="14173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</p:sp>
      <p:sp>
        <p:nvSpPr>
          <p:cNvPr id="40" name="Text 38"/>
          <p:cNvSpPr/>
          <p:nvPr/>
        </p:nvSpPr>
        <p:spPr>
          <a:xfrm>
            <a:off x="7525512" y="1417320"/>
            <a:ext cx="64008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</a:t>
            </a:r>
            <a:endParaRPr lang="en-US" sz="1120" dirty="0"/>
          </a:p>
        </p:txBody>
      </p:sp>
      <p:sp>
        <p:nvSpPr>
          <p:cNvPr id="41" name="Text 39"/>
          <p:cNvSpPr/>
          <p:nvPr/>
        </p:nvSpPr>
        <p:spPr>
          <a:xfrm>
            <a:off x="7095744" y="2194560"/>
            <a:ext cx="149961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推广与运营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7278624" y="2606040"/>
            <a:ext cx="1133856" cy="0"/>
          </a:xfrm>
          <a:prstGeom prst="line">
            <a:avLst/>
          </a:prstGeom>
          <a:noFill/>
          <a:ln w="19050">
            <a:solidFill>
              <a:srgbClr val="10B98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87184" y="274320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试点课程对接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87184" y="310896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用户反馈收集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187184" y="3474720"/>
            <a:ext cx="1316736" cy="3200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成果材料整理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solidFill>
            <a:srgbClr val="F0F4FF"/>
          </a:solidFill>
          <a:ln>
            <a:noFill/>
          </a:ln>
        </p:spPr>
      </p:sp>
      <p:sp>
        <p:nvSpPr>
          <p:cNvPr id="47" name="Text 45"/>
          <p:cNvSpPr/>
          <p:nvPr/>
        </p:nvSpPr>
        <p:spPr>
          <a:xfrm>
            <a:off x="640080" y="4251960"/>
            <a:ext cx="786384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2B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以「产品—算法—工程—运营」协同推进，让技术真正服务于教学现场</a:t>
            </a:r>
            <a:endParaRPr lang="en-US" sz="1100" dirty="0"/>
          </a:p>
        </p:txBody>
      </p:sp>
      <p:sp>
        <p:nvSpPr>
          <p:cNvPr id="48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200400"/>
            <a:ext cx="1828800" cy="1828800"/>
          </a:xfrm>
          <a:prstGeom prst="ellipse">
            <a:avLst/>
          </a:prstGeom>
          <a:solidFill>
            <a:srgbClr val="243B7A"/>
          </a:solidFill>
          <a:ln>
            <a:noFill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1828800"/>
          </a:xfrm>
          <a:prstGeom prst="ellipse">
            <a:avLst/>
          </a:prstGeom>
          <a:solidFill>
            <a:srgbClr val="243B7A"/>
          </a:solidFill>
          <a:ln>
            <a:noFill/>
          </a:ln>
        </p:spPr>
      </p:sp>
      <p:sp>
        <p:nvSpPr>
          <p:cNvPr id="4" name="Shape 2"/>
          <p:cNvSpPr/>
          <p:nvPr/>
        </p:nvSpPr>
        <p:spPr>
          <a:xfrm>
            <a:off x="4297680" y="1097280"/>
            <a:ext cx="548640" cy="54864"/>
          </a:xfrm>
          <a:prstGeom prst="rect">
            <a:avLst/>
          </a:prstGeom>
          <a:solidFill>
            <a:srgbClr val="00B8A3"/>
          </a:solidFill>
          <a:ln>
            <a:noFill/>
          </a:ln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000" b="1" kern="0" spc="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让题库真正进入教学现场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7D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不是替代教师，而是让教师把时间投入更有价值的判断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7DDDD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不是只给学生分数，而是给出下一步可执行的学习路径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0" y="3291840"/>
            <a:ext cx="2743200" cy="27432"/>
          </a:xfrm>
          <a:prstGeom prst="rect">
            <a:avLst/>
          </a:prstGeom>
          <a:solidFill>
            <a:srgbClr val="00B8A3">
              <a:alpha val="50000"/>
            </a:srgbClr>
          </a:solidFill>
          <a:ln>
            <a:noFill/>
          </a:ln>
        </p:spPr>
      </p:sp>
      <p:sp>
        <p:nvSpPr>
          <p:cNvPr id="8" name="Text 6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期待与高校课程共建试点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CA3A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答辩与交流  ·  感谢聆听</a:t>
            </a:r>
            <a:endParaRPr lang="en-US" sz="1200" dirty="0"/>
          </a:p>
        </p:txBody>
      </p:sp>
      <p:sp>
        <p:nvSpPr>
          <p:cNvPr id="10" name="Watermark"/>
          <p:cNvSpPr txBox="1"/>
          <p:nvPr/>
        </p:nvSpPr>
        <p:spPr>
          <a:xfrm rot="0">
            <a:off x="6836000" y="4685500"/>
            <a:ext cx="2200000" cy="35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b" lIns="0" tIns="0" rIns="91440" bIns="45720"/>
          <a:lstStyle/>
          <a:p>
            <a:pPr algn="r"/>
            <a:r>
              <a:rPr lang="zh-CN" sz="1600" dirty="0">
                <a:solidFill>
                  <a:srgbClr val="808080">
                    <a:alpha val="19999"/>
                  </a:srgbClr>
                </a:solidFill>
                <a:latin typeface="Arial"/>
                <a:ea typeface="SimSun"/>
              </a:rPr>
              <a:t>AI 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1684</Words>
  <Application>Microsoft Office PowerPoint</Application>
  <PresentationFormat>全屏显示(16:9)</PresentationFormat>
  <Paragraphs>552</Paragraphs>
  <Slides>26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0" baseType="lpstr">
      <vt:lpstr>微软雅黑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智启题库 - 大学生创新创业大赛答辩</dc:title>
  <dc:subject>PptxGenJS Presentation</dc:subject>
  <dc:creator>ZhiQi Team</dc:creator>
  <cp:lastModifiedBy>雪松 高</cp:lastModifiedBy>
  <cp:revision>3</cp:revision>
  <dcterms:created xsi:type="dcterms:W3CDTF">2026-08-13T15:41:03Z</dcterms:created>
  <dcterms:modified xsi:type="dcterms:W3CDTF">2026-08-13T20:25:01Z</dcterms:modified>
</cp:coreProperties>
</file>